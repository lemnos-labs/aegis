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504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vorstellen: Wir drei, Betreuer Prof. Dr. Spandl. Aegis ist eine Anwendung zur Dateiverschlüsselung, bei der die Bedienung im Mittelpunkt steht. Der Kryptokern soll später auch für Ende-zu-Ende-verschlüsselte Kommunikation wiederverwendbar sein.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Kryptografie ist gelöst, die Bedienung nicht. Genau hier setzt Aegis an: Sicherheit, die auch Laien korrekt nutzen können. Dazu kommt die Post-Quanten-Frage: Daten, die heute verschlüsselt verschickt werden, sollen auch in Zukunft geschützt bleiben.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haben die wichtigsten Werkzeuge systematisch mit einer Nutzwertanalyse verglichen und selbst getestet: Kleopatra, age und Picocrypt-NG. Cryptomator haben wir ergänzend betrachtet, weil es ein anderes Konzept verfolgt, aber für eine spätere Tresor-Funktion interessant ist. Die beobachteten Stärken und Schwächen fließen direkt in die Anforderungen von Aegis ein.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Machbar ist das Projekt, weil wir auf erprobte Bausteine setzen: Rust für Speichersicherheit, etablierte Kryptobibliotheken statt Eigenbau, Tauri für die Oberfläche. Kern ist eine eigenständige Kryptobibliothek. Darauf setzen Oberfläche, Kommandozeile und die Schnittstelle für Ende-zu-Ende-Kommunikation auf. Schwerpunkt ist unser eigenes Format mit hybrider Post-Quanten-Kryptografie, age dient als sicherer Fallback.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Weil Benutzerfreundlichkeit unser Schwerpunkt ist, bauen wir zuerst einen Klickdummy ohne Funktion. Den geben wir Testpersonen ohne Vorwissen und beobachten, wo sie hängen bleiben. Erst danach entsteht die echte Oberfläche. Da wir Tauri verwenden, können wir große Teile des Klickdummys weiterverwenden.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 Ende steht eine Desktop-Anwendung, die Laien ohne Vorwissen bedienen können, mit unserem eigenen Format und hybrider Post-Quanten-Kryptografie als Schwerpunkt. Wer lieber auf ein erprobtes Format setzt, kann in den Einstellungen age als Fallback wählen. Dazu kommen eine Kommandozeile und die Schnittstelle für verschlüsselte Kommunikation.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bewerten Aegis mit denselben Maßstäben wie die Konkurrenz. Bei der Usability durch Beobachtung und den standardisierten SUS-Fragebogen, bei der Sicherheit durch Tests, Testvektoren, Fuzzing und den Abgleich mit der BSI-Richtlinie, bei der Performance durch Benchmarks und RAM-Messungen.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Danke und offene Runde für Fragen.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2202B"/>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11"/>
            <a:ext cx="10566400" cy="4109789"/>
          </a:xfrm>
          <a:prstGeom prst="rect">
            <a:avLst/>
          </a:prstGeom>
          <a:noFill/>
          <a:ln/>
        </p:spPr>
        <p:txBody>
          <a:bodyPr wrap="square" lIns="0" tIns="0" rIns="0" bIns="0" rtlCol="0" anchor="t"/>
          <a:lstStyle>
            <a:lvl1pPr marL="0" indent="0" algn="l">
              <a:lnSpc>
                <a:spcPct val="140000"/>
              </a:lnSpc>
              <a:buNone/>
              <a:defRPr lang="en-US" sz="1600" dirty="0">
                <a:solidFill>
                  <a:srgbClr val="12202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2202B"/>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11"/>
            <a:ext cx="10566400" cy="4109789"/>
          </a:xfrm>
          <a:prstGeom prst="rect">
            <a:avLst/>
          </a:prstGeom>
          <a:noFill/>
          <a:ln/>
        </p:spPr>
        <p:txBody>
          <a:bodyPr wrap="square" lIns="0" tIns="0" rIns="0" bIns="0" rtlCol="0" anchor="t"/>
          <a:lstStyle>
            <a:lvl1pPr marL="0" indent="0" algn="l">
              <a:lnSpc>
                <a:spcPct val="140000"/>
              </a:lnSpc>
              <a:buNone/>
              <a:defRPr lang="en-US" sz="1600" dirty="0">
                <a:solidFill>
                  <a:srgbClr val="12202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7FD6C8"/>
                </a:solidFill>
                <a:latin typeface="IBM Plex Sans" pitchFamily="34" charset="0"/>
                <a:ea typeface="IBM Plex Sans" pitchFamily="34" charset="-122"/>
                <a:cs typeface="IBM Plex Sans" pitchFamily="34" charset="-120"/>
              </a:rPr>
              <a:t>STUDIENARBEIT · DHBW RAVENSBURG · KICKOFF</a:t>
            </a:r>
            <a:endParaRPr lang="en-US" sz="1200" dirty="0"/>
          </a:p>
        </p:txBody>
      </p:sp>
      <p:sp>
        <p:nvSpPr>
          <p:cNvPr id="3" name="Text 1"/>
          <p:cNvSpPr>
            <a:spLocks noGrp="1"/>
          </p:cNvSpPr>
          <p:nvPr>
            <p:ph type="title"/>
          </p:nvPr>
        </p:nvSpPr>
        <p:spPr>
          <a:xfrm>
            <a:off x="812800" y="2326680"/>
            <a:ext cx="8371840" cy="1041400"/>
          </a:xfrm>
          <a:prstGeom prst="rect">
            <a:avLst/>
          </a:prstGeom>
          <a:noFill/>
          <a:ln/>
        </p:spPr>
        <p:txBody>
          <a:bodyPr wrap="square" lIns="0" tIns="0" rIns="0" bIns="0" rtlCol="0" anchor="t">
            <a:normAutofit/>
          </a:bodyPr>
          <a:lstStyle/>
          <a:p>
            <a:pPr marL="0" indent="0" algn="l">
              <a:lnSpc>
                <a:spcPts val="8000"/>
              </a:lnSpc>
              <a:buNone/>
            </a:pPr>
            <a:r>
              <a:rPr lang="en-US" sz="8000" b="1" i="0" dirty="0">
                <a:solidFill>
                  <a:srgbClr val="F5F4EF"/>
                </a:solidFill>
                <a:latin typeface="Space Grotesk" pitchFamily="34" charset="0"/>
                <a:ea typeface="Space Grotesk" pitchFamily="34" charset="-122"/>
                <a:cs typeface="Space Grotesk" pitchFamily="34" charset="-120"/>
              </a:rPr>
              <a:t>Aegis</a:t>
            </a:r>
            <a:endParaRPr lang="en-US" sz="8000" dirty="0"/>
          </a:p>
        </p:txBody>
      </p:sp>
      <p:sp>
        <p:nvSpPr>
          <p:cNvPr id="4" name="Text 2"/>
          <p:cNvSpPr/>
          <p:nvPr/>
        </p:nvSpPr>
        <p:spPr>
          <a:xfrm>
            <a:off x="812800" y="3545880"/>
            <a:ext cx="8371840" cy="7112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C9D6DE"/>
                </a:solidFill>
                <a:latin typeface="IBM Plex Sans" pitchFamily="34" charset="0"/>
                <a:ea typeface="IBM Plex Sans" pitchFamily="34" charset="-122"/>
                <a:cs typeface="IBM Plex Sans" pitchFamily="34" charset="-120"/>
              </a:rPr>
              <a:t>Benutzerfreundliche Dateiverschlüsselung mit Erweiterbarkeit für Ende-zu-Ende-verschlüsselte Kommunikation</a:t>
            </a:r>
            <a:endParaRPr lang="en-US" sz="2000" dirty="0"/>
          </a:p>
        </p:txBody>
      </p:sp>
      <p:sp>
        <p:nvSpPr>
          <p:cNvPr id="5" name="Text 3"/>
          <p:cNvSpPr/>
          <p:nvPr/>
        </p:nvSpPr>
        <p:spPr>
          <a:xfrm>
            <a:off x="812800" y="5532189"/>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4EF"/>
                </a:solidFill>
                <a:latin typeface="IBM Plex Sans" pitchFamily="34" charset="0"/>
                <a:ea typeface="IBM Plex Sans" pitchFamily="34" charset="-122"/>
                <a:cs typeface="IBM Plex Sans" pitchFamily="34" charset="-120"/>
              </a:rPr>
              <a:t>Oliver Decker · Micha Wiedemann · Erik Spilner</a:t>
            </a:r>
            <a:endParaRPr lang="en-US" sz="1400" dirty="0"/>
          </a:p>
        </p:txBody>
      </p:sp>
      <p:sp>
        <p:nvSpPr>
          <p:cNvPr id="6" name="Text 4"/>
          <p:cNvSpPr/>
          <p:nvPr/>
        </p:nvSpPr>
        <p:spPr>
          <a:xfrm>
            <a:off x="812800" y="58318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6DE"/>
                </a:solidFill>
                <a:latin typeface="IBM Plex Sans" pitchFamily="34" charset="0"/>
                <a:ea typeface="IBM Plex Sans" pitchFamily="34" charset="-122"/>
                <a:cs typeface="IBM Plex Sans" pitchFamily="34" charset="-120"/>
              </a:rPr>
              <a:t>Betreuer: Prof. Dr. Spandl</a:t>
            </a:r>
            <a:endParaRPr lang="en-US" sz="1200" dirty="0"/>
          </a:p>
        </p:txBody>
      </p:sp>
      <p:pic>
        <p:nvPicPr>
          <p:cNvPr id="7" name="Image 0" descr="Lock"/>
          <p:cNvPicPr>
            <a:picLocks noChangeAspect="1"/>
          </p:cNvPicPr>
          <p:nvPr/>
        </p:nvPicPr>
        <p:blipFill>
          <a:blip r:embed="rId3"/>
          <a:srcRect/>
          <a:stretch/>
        </p:blipFill>
        <p:spPr>
          <a:xfrm>
            <a:off x="9398000" y="2413000"/>
            <a:ext cx="1905000" cy="1905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D7368"/>
                </a:solidFill>
                <a:latin typeface="IBM Plex Sans" pitchFamily="34" charset="0"/>
                <a:ea typeface="IBM Plex Sans" pitchFamily="34" charset="-122"/>
                <a:cs typeface="IBM Plex Sans" pitchFamily="34" charset="-120"/>
              </a:rPr>
              <a:t>PROBLEMSTELLUNG</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02B"/>
                </a:solidFill>
                <a:latin typeface="Space Grotesk" pitchFamily="34" charset="0"/>
                <a:ea typeface="Space Grotesk" pitchFamily="34" charset="-122"/>
                <a:cs typeface="Space Grotesk" pitchFamily="34" charset="-120"/>
              </a:rPr>
              <a:t>Verschlüsselung scheitert an der Bedienung</a:t>
            </a:r>
            <a:endParaRPr lang="en-US" sz="3600" dirty="0"/>
          </a:p>
        </p:txBody>
      </p:sp>
      <p:sp>
        <p:nvSpPr>
          <p:cNvPr id="4" name="Shape 2"/>
          <p:cNvSpPr/>
          <p:nvPr/>
        </p:nvSpPr>
        <p:spPr>
          <a:xfrm>
            <a:off x="815975" y="1989386"/>
            <a:ext cx="3380284" cy="1885801"/>
          </a:xfrm>
          <a:prstGeom prst="roundRect">
            <a:avLst>
              <a:gd name="adj" fmla="val 5219"/>
            </a:avLst>
          </a:prstGeom>
          <a:solidFill>
            <a:srgbClr val="FCFBF8"/>
          </a:solidFill>
          <a:ln w="6350">
            <a:solidFill>
              <a:srgbClr val="E2E0D8"/>
            </a:solidFill>
            <a:prstDash val="solid"/>
          </a:ln>
        </p:spPr>
        <p:txBody>
          <a:bodyPr/>
          <a:lstStyle/>
          <a:p>
            <a:endParaRPr lang="en-DE"/>
          </a:p>
        </p:txBody>
      </p:sp>
      <p:sp>
        <p:nvSpPr>
          <p:cNvPr id="5" name="Text 3"/>
          <p:cNvSpPr/>
          <p:nvPr/>
        </p:nvSpPr>
        <p:spPr>
          <a:xfrm>
            <a:off x="1073150" y="2246561"/>
            <a:ext cx="295191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B"/>
                </a:solidFill>
                <a:latin typeface="Space Grotesk" pitchFamily="34" charset="0"/>
                <a:ea typeface="Space Grotesk" pitchFamily="34" charset="-122"/>
                <a:cs typeface="Space Grotesk" pitchFamily="34" charset="-120"/>
              </a:rPr>
              <a:t>Technisch ausgereift</a:t>
            </a:r>
            <a:endParaRPr lang="en-US" sz="1800" dirty="0"/>
          </a:p>
        </p:txBody>
      </p:sp>
      <p:sp>
        <p:nvSpPr>
          <p:cNvPr id="6" name="Text 4"/>
          <p:cNvSpPr/>
          <p:nvPr/>
        </p:nvSpPr>
        <p:spPr>
          <a:xfrm>
            <a:off x="1073150" y="2622451"/>
            <a:ext cx="2951912" cy="102096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C"/>
                </a:solidFill>
                <a:latin typeface="IBM Plex Sans" pitchFamily="34" charset="0"/>
                <a:ea typeface="IBM Plex Sans" pitchFamily="34" charset="-122"/>
                <a:cs typeface="IBM Plex Sans" pitchFamily="34" charset="-120"/>
              </a:rPr>
              <a:t>Kryptografisch starke Verfahren und Werkzeuge zur Dateiverschlüsselung gibt es seit Jahrzehnten.</a:t>
            </a:r>
            <a:endParaRPr lang="en-US" sz="1400" dirty="0"/>
          </a:p>
        </p:txBody>
      </p:sp>
      <p:sp>
        <p:nvSpPr>
          <p:cNvPr id="7" name="Shape 5"/>
          <p:cNvSpPr/>
          <p:nvPr/>
        </p:nvSpPr>
        <p:spPr>
          <a:xfrm>
            <a:off x="4405809" y="1989386"/>
            <a:ext cx="3380333" cy="1885801"/>
          </a:xfrm>
          <a:prstGeom prst="roundRect">
            <a:avLst>
              <a:gd name="adj" fmla="val 5219"/>
            </a:avLst>
          </a:prstGeom>
          <a:solidFill>
            <a:srgbClr val="FCFBF8"/>
          </a:solidFill>
          <a:ln w="6350">
            <a:solidFill>
              <a:srgbClr val="E2E0D8"/>
            </a:solidFill>
            <a:prstDash val="solid"/>
          </a:ln>
        </p:spPr>
        <p:txBody>
          <a:bodyPr/>
          <a:lstStyle/>
          <a:p>
            <a:endParaRPr lang="en-DE"/>
          </a:p>
        </p:txBody>
      </p:sp>
      <p:sp>
        <p:nvSpPr>
          <p:cNvPr id="8" name="Text 6"/>
          <p:cNvSpPr/>
          <p:nvPr/>
        </p:nvSpPr>
        <p:spPr>
          <a:xfrm>
            <a:off x="4662984" y="2246561"/>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B"/>
                </a:solidFill>
                <a:latin typeface="Space Grotesk" pitchFamily="34" charset="0"/>
                <a:ea typeface="Space Grotesk" pitchFamily="34" charset="-122"/>
                <a:cs typeface="Space Grotesk" pitchFamily="34" charset="-120"/>
              </a:rPr>
              <a:t>Im Alltag kaum genutzt</a:t>
            </a:r>
            <a:endParaRPr lang="en-US" sz="1800" dirty="0"/>
          </a:p>
        </p:txBody>
      </p:sp>
      <p:sp>
        <p:nvSpPr>
          <p:cNvPr id="9" name="Text 7"/>
          <p:cNvSpPr/>
          <p:nvPr/>
        </p:nvSpPr>
        <p:spPr>
          <a:xfrm>
            <a:off x="4662984" y="2622451"/>
            <a:ext cx="2951963"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C"/>
                </a:solidFill>
                <a:latin typeface="IBM Plex Sans" pitchFamily="34" charset="0"/>
                <a:ea typeface="IBM Plex Sans" pitchFamily="34" charset="-122"/>
                <a:cs typeface="IBM Plex Sans" pitchFamily="34" charset="-120"/>
              </a:rPr>
              <a:t>Begriffe wie Schlüsselpaar, Zertifikat oder Passphrase überfordern viele Nutzende.</a:t>
            </a:r>
            <a:endParaRPr lang="en-US" sz="1400" dirty="0"/>
          </a:p>
        </p:txBody>
      </p:sp>
      <p:sp>
        <p:nvSpPr>
          <p:cNvPr id="10" name="Shape 8"/>
          <p:cNvSpPr/>
          <p:nvPr/>
        </p:nvSpPr>
        <p:spPr>
          <a:xfrm>
            <a:off x="7995692" y="1989386"/>
            <a:ext cx="3380333" cy="1885801"/>
          </a:xfrm>
          <a:prstGeom prst="roundRect">
            <a:avLst>
              <a:gd name="adj" fmla="val 5219"/>
            </a:avLst>
          </a:prstGeom>
          <a:solidFill>
            <a:srgbClr val="FCFBF8"/>
          </a:solidFill>
          <a:ln w="6350">
            <a:solidFill>
              <a:srgbClr val="E2E0D8"/>
            </a:solidFill>
            <a:prstDash val="solid"/>
          </a:ln>
        </p:spPr>
        <p:txBody>
          <a:bodyPr/>
          <a:lstStyle/>
          <a:p>
            <a:endParaRPr lang="en-DE"/>
          </a:p>
        </p:txBody>
      </p:sp>
      <p:sp>
        <p:nvSpPr>
          <p:cNvPr id="11" name="Text 9"/>
          <p:cNvSpPr/>
          <p:nvPr/>
        </p:nvSpPr>
        <p:spPr>
          <a:xfrm>
            <a:off x="8252867" y="2246561"/>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B"/>
                </a:solidFill>
                <a:latin typeface="Space Grotesk" pitchFamily="34" charset="0"/>
                <a:ea typeface="Space Grotesk" pitchFamily="34" charset="-122"/>
                <a:cs typeface="Space Grotesk" pitchFamily="34" charset="-120"/>
              </a:rPr>
              <a:t>Riskant bei Fehlern</a:t>
            </a:r>
            <a:endParaRPr lang="en-US" sz="1800" dirty="0"/>
          </a:p>
        </p:txBody>
      </p:sp>
      <p:sp>
        <p:nvSpPr>
          <p:cNvPr id="12" name="Text 10"/>
          <p:cNvSpPr/>
          <p:nvPr/>
        </p:nvSpPr>
        <p:spPr>
          <a:xfrm>
            <a:off x="8252867" y="2622451"/>
            <a:ext cx="2951963"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C"/>
                </a:solidFill>
                <a:latin typeface="IBM Plex Sans" pitchFamily="34" charset="0"/>
                <a:ea typeface="IBM Plex Sans" pitchFamily="34" charset="-122"/>
                <a:cs typeface="IBM Plex Sans" pitchFamily="34" charset="-120"/>
              </a:rPr>
              <a:t>Fehlbedienung und komplexe Oberflächen führen zu Datenverlust oder zu scheinbarer Sicherheit.</a:t>
            </a:r>
            <a:endParaRPr lang="en-US" sz="1400" dirty="0"/>
          </a:p>
        </p:txBody>
      </p:sp>
      <p:sp>
        <p:nvSpPr>
          <p:cNvPr id="13" name="Shape 11"/>
          <p:cNvSpPr/>
          <p:nvPr/>
        </p:nvSpPr>
        <p:spPr>
          <a:xfrm>
            <a:off x="812800" y="4233962"/>
            <a:ext cx="10566400" cy="1005780"/>
          </a:xfrm>
          <a:prstGeom prst="roundRect">
            <a:avLst>
              <a:gd name="adj" fmla="val 10102"/>
            </a:avLst>
          </a:prstGeom>
          <a:solidFill>
            <a:srgbClr val="12202B"/>
          </a:solidFill>
          <a:ln/>
        </p:spPr>
        <p:txBody>
          <a:bodyPr/>
          <a:lstStyle/>
          <a:p>
            <a:endParaRPr lang="en-DE"/>
          </a:p>
        </p:txBody>
      </p:sp>
      <p:pic>
        <p:nvPicPr>
          <p:cNvPr id="14" name="Image 0" descr="Warning"/>
          <p:cNvPicPr>
            <a:picLocks noChangeAspect="1"/>
          </p:cNvPicPr>
          <p:nvPr/>
        </p:nvPicPr>
        <p:blipFill>
          <a:blip r:embed="rId3"/>
          <a:srcRect/>
          <a:stretch/>
        </p:blipFill>
        <p:spPr>
          <a:xfrm>
            <a:off x="1117600" y="4533652"/>
            <a:ext cx="406400" cy="406400"/>
          </a:xfrm>
          <a:prstGeom prst="rect">
            <a:avLst/>
          </a:prstGeom>
        </p:spPr>
      </p:pic>
      <p:sp>
        <p:nvSpPr>
          <p:cNvPr id="15" name="Text 12"/>
          <p:cNvSpPr/>
          <p:nvPr/>
        </p:nvSpPr>
        <p:spPr>
          <a:xfrm>
            <a:off x="1727200" y="4487962"/>
            <a:ext cx="9627616"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5F4EF"/>
                </a:solidFill>
                <a:latin typeface="IBM Plex Sans" pitchFamily="34" charset="0"/>
                <a:ea typeface="IBM Plex Sans" pitchFamily="34" charset="-122"/>
                <a:cs typeface="IBM Plex Sans" pitchFamily="34" charset="-120"/>
              </a:rPr>
              <a:t>Zusätzlich:</a:t>
            </a:r>
            <a:r>
              <a:rPr lang="en-US" sz="1400" dirty="0">
                <a:solidFill>
                  <a:srgbClr val="F5F4EF"/>
                </a:solidFill>
                <a:latin typeface="IBM Plex Sans" pitchFamily="34" charset="0"/>
                <a:ea typeface="IBM Plex Sans" pitchFamily="34" charset="-122"/>
                <a:cs typeface="IBM Plex Sans" pitchFamily="34" charset="-120"/>
              </a:rPr>
              <a:t> Quantencomputer bedrohen heutige Public-Key-Verfahren. Was heute abgefangen wird, kann später entschlüsselt werden („Harvest now, decrypt later“).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D7368"/>
                </a:solidFill>
                <a:latin typeface="IBM Plex Sans" pitchFamily="34" charset="0"/>
                <a:ea typeface="IBM Plex Sans" pitchFamily="34" charset="-122"/>
                <a:cs typeface="IBM Plex Sans" pitchFamily="34" charset="-120"/>
              </a:rPr>
              <a:t>RELATED WORKS</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02B"/>
                </a:solidFill>
                <a:latin typeface="Space Grotesk" pitchFamily="34" charset="0"/>
                <a:ea typeface="Space Grotesk" pitchFamily="34" charset="-122"/>
                <a:cs typeface="Space Grotesk" pitchFamily="34" charset="-120"/>
              </a:rPr>
              <a:t>Umfassende Konkurrenzanalyse</a:t>
            </a:r>
            <a:endParaRPr lang="en-US" sz="3600" dirty="0"/>
          </a:p>
        </p:txBody>
      </p:sp>
      <p:sp>
        <p:nvSpPr>
          <p:cNvPr id="4" name="Text 2"/>
          <p:cNvSpPr/>
          <p:nvPr/>
        </p:nvSpPr>
        <p:spPr>
          <a:xfrm>
            <a:off x="812800" y="1986211"/>
            <a:ext cx="405511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B"/>
                </a:solidFill>
                <a:latin typeface="Space Grotesk" pitchFamily="34" charset="0"/>
                <a:ea typeface="Space Grotesk" pitchFamily="34" charset="-122"/>
                <a:cs typeface="Space Grotesk" pitchFamily="34" charset="-120"/>
              </a:rPr>
              <a:t>Nutzwertanalyse</a:t>
            </a:r>
            <a:endParaRPr lang="en-US" sz="1800" dirty="0"/>
          </a:p>
        </p:txBody>
      </p:sp>
      <p:sp>
        <p:nvSpPr>
          <p:cNvPr id="5" name="Text 3"/>
          <p:cNvSpPr/>
          <p:nvPr/>
        </p:nvSpPr>
        <p:spPr>
          <a:xfrm>
            <a:off x="812800" y="2311301"/>
            <a:ext cx="405511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C"/>
                </a:solidFill>
                <a:latin typeface="IBM Plex Sans" pitchFamily="34" charset="0"/>
                <a:ea typeface="IBM Plex Sans" pitchFamily="34" charset="-122"/>
                <a:cs typeface="IBM Plex Sans" pitchFamily="34" charset="-120"/>
              </a:rPr>
              <a:t>20 gewichtete Kriterien aus Sicherheit, Usability, Funktionsumfang, Plattform und Wartung</a:t>
            </a:r>
            <a:endParaRPr lang="en-US" sz="1400" dirty="0"/>
          </a:p>
        </p:txBody>
      </p:sp>
      <p:sp>
        <p:nvSpPr>
          <p:cNvPr id="6" name="Text 4"/>
          <p:cNvSpPr/>
          <p:nvPr/>
        </p:nvSpPr>
        <p:spPr>
          <a:xfrm>
            <a:off x="812800" y="3012281"/>
            <a:ext cx="405511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B"/>
                </a:solidFill>
                <a:latin typeface="Space Grotesk" pitchFamily="34" charset="0"/>
                <a:ea typeface="Space Grotesk" pitchFamily="34" charset="-122"/>
                <a:cs typeface="Space Grotesk" pitchFamily="34" charset="-120"/>
              </a:rPr>
              <a:t>Praxistests</a:t>
            </a:r>
            <a:endParaRPr lang="en-US" sz="1800" dirty="0"/>
          </a:p>
        </p:txBody>
      </p:sp>
      <p:sp>
        <p:nvSpPr>
          <p:cNvPr id="7" name="Text 5"/>
          <p:cNvSpPr/>
          <p:nvPr/>
        </p:nvSpPr>
        <p:spPr>
          <a:xfrm>
            <a:off x="812800" y="3337371"/>
            <a:ext cx="405511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C"/>
                </a:solidFill>
                <a:latin typeface="IBM Plex Sans" pitchFamily="34" charset="0"/>
                <a:ea typeface="IBM Plex Sans" pitchFamily="34" charset="-122"/>
                <a:cs typeface="IBM Plex Sans" pitchFamily="34" charset="-120"/>
              </a:rPr>
              <a:t>Standardisierte Aufgaben, provozierte Fehler, manipulierte Dateien und RAM-Messungen</a:t>
            </a:r>
            <a:endParaRPr lang="en-US" sz="1400" dirty="0"/>
          </a:p>
        </p:txBody>
      </p:sp>
      <p:sp>
        <p:nvSpPr>
          <p:cNvPr id="8" name="Text 6"/>
          <p:cNvSpPr/>
          <p:nvPr/>
        </p:nvSpPr>
        <p:spPr>
          <a:xfrm>
            <a:off x="812800" y="4038352"/>
            <a:ext cx="405511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B"/>
                </a:solidFill>
                <a:latin typeface="Space Grotesk" pitchFamily="34" charset="0"/>
                <a:ea typeface="Space Grotesk" pitchFamily="34" charset="-122"/>
                <a:cs typeface="Space Grotesk" pitchFamily="34" charset="-120"/>
              </a:rPr>
              <a:t>UX-Beobachtungen</a:t>
            </a:r>
            <a:endParaRPr lang="en-US" sz="1800" dirty="0"/>
          </a:p>
        </p:txBody>
      </p:sp>
      <p:sp>
        <p:nvSpPr>
          <p:cNvPr id="9" name="Text 7"/>
          <p:cNvSpPr/>
          <p:nvPr/>
        </p:nvSpPr>
        <p:spPr>
          <a:xfrm>
            <a:off x="812800" y="4363442"/>
            <a:ext cx="405511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C"/>
                </a:solidFill>
                <a:latin typeface="IBM Plex Sans" pitchFamily="34" charset="0"/>
                <a:ea typeface="IBM Plex Sans" pitchFamily="34" charset="-122"/>
                <a:cs typeface="IBM Plex Sans" pitchFamily="34" charset="-120"/>
              </a:rPr>
              <a:t>Stärken und Schwächen als direkte Grundlage für Aegis</a:t>
            </a:r>
            <a:endParaRPr lang="en-US" sz="1400" dirty="0"/>
          </a:p>
        </p:txBody>
      </p:sp>
      <p:sp>
        <p:nvSpPr>
          <p:cNvPr id="10" name="Shape 8"/>
          <p:cNvSpPr/>
          <p:nvPr/>
        </p:nvSpPr>
        <p:spPr>
          <a:xfrm>
            <a:off x="5159375" y="1989386"/>
            <a:ext cx="3028950" cy="1946920"/>
          </a:xfrm>
          <a:prstGeom prst="roundRect">
            <a:avLst>
              <a:gd name="adj" fmla="val 5055"/>
            </a:avLst>
          </a:prstGeom>
          <a:solidFill>
            <a:srgbClr val="FCFBF8"/>
          </a:solidFill>
          <a:ln w="6350">
            <a:solidFill>
              <a:srgbClr val="E2E0D8"/>
            </a:solidFill>
            <a:prstDash val="solid"/>
          </a:ln>
        </p:spPr>
        <p:txBody>
          <a:bodyPr/>
          <a:lstStyle/>
          <a:p>
            <a:endParaRPr lang="en-DE"/>
          </a:p>
        </p:txBody>
      </p:sp>
      <p:sp>
        <p:nvSpPr>
          <p:cNvPr id="11" name="Text 9"/>
          <p:cNvSpPr/>
          <p:nvPr/>
        </p:nvSpPr>
        <p:spPr>
          <a:xfrm>
            <a:off x="5391150" y="2221161"/>
            <a:ext cx="264236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B"/>
                </a:solidFill>
                <a:latin typeface="Space Grotesk" pitchFamily="34" charset="0"/>
                <a:ea typeface="Space Grotesk" pitchFamily="34" charset="-122"/>
                <a:cs typeface="Space Grotesk" pitchFamily="34" charset="-120"/>
              </a:rPr>
              <a:t>Kleopatra</a:t>
            </a:r>
            <a:endParaRPr lang="en-US" sz="1800" dirty="0"/>
          </a:p>
        </p:txBody>
      </p:sp>
      <p:sp>
        <p:nvSpPr>
          <p:cNvPr id="12" name="Text 10"/>
          <p:cNvSpPr/>
          <p:nvPr/>
        </p:nvSpPr>
        <p:spPr>
          <a:xfrm>
            <a:off x="5391150" y="2571651"/>
            <a:ext cx="2642362"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C"/>
                </a:solidFill>
                <a:latin typeface="IBM Plex Sans" pitchFamily="34" charset="0"/>
                <a:ea typeface="IBM Plex Sans" pitchFamily="34" charset="-122"/>
                <a:cs typeface="IBM Plex Sans" pitchFamily="34" charset="-120"/>
              </a:rPr>
              <a:t>Gpg4win: OpenPGP mit grafischer Oberfläche</a:t>
            </a:r>
            <a:endParaRPr lang="en-US" sz="1300" dirty="0"/>
          </a:p>
        </p:txBody>
      </p:sp>
      <p:sp>
        <p:nvSpPr>
          <p:cNvPr id="13" name="Shape 11"/>
          <p:cNvSpPr/>
          <p:nvPr/>
        </p:nvSpPr>
        <p:spPr>
          <a:xfrm>
            <a:off x="8347075" y="1989386"/>
            <a:ext cx="3028950" cy="1946920"/>
          </a:xfrm>
          <a:prstGeom prst="roundRect">
            <a:avLst>
              <a:gd name="adj" fmla="val 5055"/>
            </a:avLst>
          </a:prstGeom>
          <a:solidFill>
            <a:srgbClr val="FCFBF8"/>
          </a:solidFill>
          <a:ln w="6350">
            <a:solidFill>
              <a:srgbClr val="E2E0D8"/>
            </a:solidFill>
            <a:prstDash val="solid"/>
          </a:ln>
        </p:spPr>
        <p:txBody>
          <a:bodyPr/>
          <a:lstStyle/>
          <a:p>
            <a:endParaRPr lang="en-DE"/>
          </a:p>
        </p:txBody>
      </p:sp>
      <p:sp>
        <p:nvSpPr>
          <p:cNvPr id="14" name="Text 12"/>
          <p:cNvSpPr/>
          <p:nvPr/>
        </p:nvSpPr>
        <p:spPr>
          <a:xfrm>
            <a:off x="8578850" y="2221161"/>
            <a:ext cx="264236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B"/>
                </a:solidFill>
                <a:latin typeface="Space Grotesk" pitchFamily="34" charset="0"/>
                <a:ea typeface="Space Grotesk" pitchFamily="34" charset="-122"/>
                <a:cs typeface="Space Grotesk" pitchFamily="34" charset="-120"/>
              </a:rPr>
              <a:t>age</a:t>
            </a:r>
            <a:endParaRPr lang="en-US" sz="1800" dirty="0"/>
          </a:p>
        </p:txBody>
      </p:sp>
      <p:sp>
        <p:nvSpPr>
          <p:cNvPr id="15" name="Text 13"/>
          <p:cNvSpPr/>
          <p:nvPr/>
        </p:nvSpPr>
        <p:spPr>
          <a:xfrm>
            <a:off x="8578850" y="2571651"/>
            <a:ext cx="2642362"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C"/>
                </a:solidFill>
                <a:latin typeface="IBM Plex Sans" pitchFamily="34" charset="0"/>
                <a:ea typeface="IBM Plex Sans" pitchFamily="34" charset="-122"/>
                <a:cs typeface="IBM Plex Sans" pitchFamily="34" charset="-120"/>
              </a:rPr>
              <a:t>Moderne Verschlüsselung für die Kommandozeile</a:t>
            </a:r>
            <a:endParaRPr lang="en-US" sz="1300" dirty="0"/>
          </a:p>
        </p:txBody>
      </p:sp>
      <p:sp>
        <p:nvSpPr>
          <p:cNvPr id="16" name="Shape 14"/>
          <p:cNvSpPr/>
          <p:nvPr/>
        </p:nvSpPr>
        <p:spPr>
          <a:xfrm>
            <a:off x="5159375" y="4095055"/>
            <a:ext cx="3028950" cy="1946970"/>
          </a:xfrm>
          <a:prstGeom prst="roundRect">
            <a:avLst>
              <a:gd name="adj" fmla="val 5055"/>
            </a:avLst>
          </a:prstGeom>
          <a:solidFill>
            <a:srgbClr val="FCFBF8"/>
          </a:solidFill>
          <a:ln w="6350">
            <a:solidFill>
              <a:srgbClr val="E2E0D8"/>
            </a:solidFill>
            <a:prstDash val="solid"/>
          </a:ln>
        </p:spPr>
        <p:txBody>
          <a:bodyPr/>
          <a:lstStyle/>
          <a:p>
            <a:endParaRPr lang="en-DE"/>
          </a:p>
        </p:txBody>
      </p:sp>
      <p:sp>
        <p:nvSpPr>
          <p:cNvPr id="17" name="Text 15"/>
          <p:cNvSpPr/>
          <p:nvPr/>
        </p:nvSpPr>
        <p:spPr>
          <a:xfrm>
            <a:off x="5391150" y="4326830"/>
            <a:ext cx="264236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B"/>
                </a:solidFill>
                <a:latin typeface="Space Grotesk" pitchFamily="34" charset="0"/>
                <a:ea typeface="Space Grotesk" pitchFamily="34" charset="-122"/>
                <a:cs typeface="Space Grotesk" pitchFamily="34" charset="-120"/>
              </a:rPr>
              <a:t>Picocrypt-NG</a:t>
            </a:r>
            <a:endParaRPr lang="en-US" sz="1800" dirty="0"/>
          </a:p>
        </p:txBody>
      </p:sp>
      <p:sp>
        <p:nvSpPr>
          <p:cNvPr id="18" name="Text 16"/>
          <p:cNvSpPr/>
          <p:nvPr/>
        </p:nvSpPr>
        <p:spPr>
          <a:xfrm>
            <a:off x="5391150" y="4677321"/>
            <a:ext cx="2642362"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C"/>
                </a:solidFill>
                <a:latin typeface="IBM Plex Sans" pitchFamily="34" charset="0"/>
                <a:ea typeface="IBM Plex Sans" pitchFamily="34" charset="-122"/>
                <a:cs typeface="IBM Plex Sans" pitchFamily="34" charset="-120"/>
              </a:rPr>
              <a:t>Minimalistische Verschlüsselung mit Passwort</a:t>
            </a:r>
            <a:endParaRPr lang="en-US" sz="1300" dirty="0"/>
          </a:p>
        </p:txBody>
      </p:sp>
      <p:sp>
        <p:nvSpPr>
          <p:cNvPr id="19" name="Shape 17"/>
          <p:cNvSpPr/>
          <p:nvPr/>
        </p:nvSpPr>
        <p:spPr>
          <a:xfrm>
            <a:off x="8347075" y="4095055"/>
            <a:ext cx="3028950" cy="1946970"/>
          </a:xfrm>
          <a:prstGeom prst="roundRect">
            <a:avLst>
              <a:gd name="adj" fmla="val 5055"/>
            </a:avLst>
          </a:prstGeom>
          <a:solidFill>
            <a:srgbClr val="FCFBF8"/>
          </a:solidFill>
          <a:ln w="6350">
            <a:solidFill>
              <a:srgbClr val="9AA3A8"/>
            </a:solidFill>
            <a:prstDash val="dash"/>
          </a:ln>
        </p:spPr>
        <p:txBody>
          <a:bodyPr/>
          <a:lstStyle/>
          <a:p>
            <a:endParaRPr lang="en-DE"/>
          </a:p>
        </p:txBody>
      </p:sp>
      <p:sp>
        <p:nvSpPr>
          <p:cNvPr id="20" name="Text 18"/>
          <p:cNvSpPr/>
          <p:nvPr/>
        </p:nvSpPr>
        <p:spPr>
          <a:xfrm>
            <a:off x="8578850" y="4326830"/>
            <a:ext cx="264236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B"/>
                </a:solidFill>
                <a:latin typeface="Space Grotesk" pitchFamily="34" charset="0"/>
                <a:ea typeface="Space Grotesk" pitchFamily="34" charset="-122"/>
                <a:cs typeface="Space Grotesk" pitchFamily="34" charset="-120"/>
              </a:rPr>
              <a:t>Cryptomator</a:t>
            </a:r>
            <a:endParaRPr lang="en-US" sz="1800" dirty="0"/>
          </a:p>
        </p:txBody>
      </p:sp>
      <p:sp>
        <p:nvSpPr>
          <p:cNvPr id="21" name="Text 19"/>
          <p:cNvSpPr/>
          <p:nvPr/>
        </p:nvSpPr>
        <p:spPr>
          <a:xfrm>
            <a:off x="8578850" y="4677321"/>
            <a:ext cx="2642362"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C"/>
                </a:solidFill>
                <a:latin typeface="IBM Plex Sans" pitchFamily="34" charset="0"/>
                <a:ea typeface="IBM Plex Sans" pitchFamily="34" charset="-122"/>
                <a:cs typeface="IBM Plex Sans" pitchFamily="34" charset="-120"/>
              </a:rPr>
              <a:t>Tresor für Cloud-Speicher, ergänzend betrachtet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C"/>
                </a:solidFill>
                <a:latin typeface="IBM Plex Sans" pitchFamily="34" charset="0"/>
                <a:ea typeface="IBM Plex Sans" pitchFamily="34" charset="-122"/>
                <a:cs typeface="IBM Plex Sans" pitchFamily="34" charset="-120"/>
              </a:rPr>
              <a:t>Keine Eigenimplementierung kryptografischer Primitive · eigenes Protokoll orientiert an BSI TR-02102</a:t>
            </a:r>
            <a:endParaRPr lang="en-US" sz="1200" dirty="0"/>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D7368"/>
                </a:solidFill>
                <a:latin typeface="IBM Plex Sans" pitchFamily="34" charset="0"/>
                <a:ea typeface="IBM Plex Sans" pitchFamily="34" charset="-122"/>
                <a:cs typeface="IBM Plex Sans" pitchFamily="34" charset="-120"/>
              </a:rPr>
              <a:t>MACHBARKEIT</a:t>
            </a:r>
            <a:endParaRPr lang="en-US" sz="1200" dirty="0"/>
          </a:p>
        </p:txBody>
      </p:sp>
      <p:sp>
        <p:nvSpPr>
          <p:cNvPr id="4" name="Text 2"/>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02B"/>
                </a:solidFill>
                <a:latin typeface="Space Grotesk" pitchFamily="34" charset="0"/>
                <a:ea typeface="Space Grotesk" pitchFamily="34" charset="-122"/>
                <a:cs typeface="Space Grotesk" pitchFamily="34" charset="-120"/>
              </a:rPr>
              <a:t>Modulare Architektur</a:t>
            </a:r>
            <a:endParaRPr lang="en-US" sz="3600" dirty="0"/>
          </a:p>
        </p:txBody>
      </p:sp>
      <p:sp>
        <p:nvSpPr>
          <p:cNvPr id="5" name="Shape 3"/>
          <p:cNvSpPr/>
          <p:nvPr/>
        </p:nvSpPr>
        <p:spPr>
          <a:xfrm>
            <a:off x="815975" y="1787525"/>
            <a:ext cx="3414167" cy="869950"/>
          </a:xfrm>
          <a:prstGeom prst="roundRect">
            <a:avLst>
              <a:gd name="adj" fmla="val 11314"/>
            </a:avLst>
          </a:prstGeom>
          <a:solidFill>
            <a:srgbClr val="FCFBF8"/>
          </a:solidFill>
          <a:ln w="6350">
            <a:solidFill>
              <a:srgbClr val="E2E0D8"/>
            </a:solidFill>
            <a:prstDash val="solid"/>
          </a:ln>
        </p:spPr>
        <p:txBody>
          <a:bodyPr/>
          <a:lstStyle/>
          <a:p>
            <a:endParaRPr lang="en-DE"/>
          </a:p>
        </p:txBody>
      </p:sp>
      <p:sp>
        <p:nvSpPr>
          <p:cNvPr id="6" name="Text 4"/>
          <p:cNvSpPr/>
          <p:nvPr/>
        </p:nvSpPr>
        <p:spPr>
          <a:xfrm>
            <a:off x="1022350" y="1968500"/>
            <a:ext cx="3091459"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B"/>
                </a:solidFill>
                <a:latin typeface="Space Grotesk" pitchFamily="34" charset="0"/>
                <a:ea typeface="Space Grotesk" pitchFamily="34" charset="-122"/>
                <a:cs typeface="Space Grotesk" pitchFamily="34" charset="-120"/>
              </a:rPr>
              <a:t>Grafische Oberfläche</a:t>
            </a:r>
            <a:endParaRPr lang="en-US" sz="1600" dirty="0"/>
          </a:p>
        </p:txBody>
      </p:sp>
      <p:sp>
        <p:nvSpPr>
          <p:cNvPr id="7" name="Text 5"/>
          <p:cNvSpPr/>
          <p:nvPr/>
        </p:nvSpPr>
        <p:spPr>
          <a:xfrm>
            <a:off x="1022350" y="2263130"/>
            <a:ext cx="309145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C"/>
                </a:solidFill>
                <a:latin typeface="IBM Plex Sans" pitchFamily="34" charset="0"/>
                <a:ea typeface="IBM Plex Sans" pitchFamily="34" charset="-122"/>
                <a:cs typeface="IBM Plex Sans" pitchFamily="34" charset="-120"/>
              </a:rPr>
              <a:t>Tauri mit TypeScript</a:t>
            </a:r>
            <a:endParaRPr lang="en-US" sz="1200" dirty="0"/>
          </a:p>
        </p:txBody>
      </p:sp>
      <p:sp>
        <p:nvSpPr>
          <p:cNvPr id="8" name="Shape 6"/>
          <p:cNvSpPr/>
          <p:nvPr/>
        </p:nvSpPr>
        <p:spPr>
          <a:xfrm>
            <a:off x="4388892" y="1787525"/>
            <a:ext cx="3414216" cy="869950"/>
          </a:xfrm>
          <a:prstGeom prst="roundRect">
            <a:avLst>
              <a:gd name="adj" fmla="val 11314"/>
            </a:avLst>
          </a:prstGeom>
          <a:solidFill>
            <a:srgbClr val="FCFBF8"/>
          </a:solidFill>
          <a:ln w="6350">
            <a:solidFill>
              <a:srgbClr val="E2E0D8"/>
            </a:solidFill>
            <a:prstDash val="solid"/>
          </a:ln>
        </p:spPr>
        <p:txBody>
          <a:bodyPr/>
          <a:lstStyle/>
          <a:p>
            <a:endParaRPr lang="en-DE"/>
          </a:p>
        </p:txBody>
      </p:sp>
      <p:sp>
        <p:nvSpPr>
          <p:cNvPr id="9" name="Text 7"/>
          <p:cNvSpPr/>
          <p:nvPr/>
        </p:nvSpPr>
        <p:spPr>
          <a:xfrm>
            <a:off x="4595267" y="1968500"/>
            <a:ext cx="309151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B"/>
                </a:solidFill>
                <a:latin typeface="Space Grotesk" pitchFamily="34" charset="0"/>
                <a:ea typeface="Space Grotesk" pitchFamily="34" charset="-122"/>
                <a:cs typeface="Space Grotesk" pitchFamily="34" charset="-120"/>
              </a:rPr>
              <a:t>Kommandozeile</a:t>
            </a:r>
            <a:endParaRPr lang="en-US" sz="1600" dirty="0"/>
          </a:p>
        </p:txBody>
      </p:sp>
      <p:sp>
        <p:nvSpPr>
          <p:cNvPr id="10" name="Text 8"/>
          <p:cNvSpPr/>
          <p:nvPr/>
        </p:nvSpPr>
        <p:spPr>
          <a:xfrm>
            <a:off x="4595267" y="2263130"/>
            <a:ext cx="30915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C"/>
                </a:solidFill>
                <a:latin typeface="IBM Plex Sans" pitchFamily="34" charset="0"/>
                <a:ea typeface="IBM Plex Sans" pitchFamily="34" charset="-122"/>
                <a:cs typeface="IBM Plex Sans" pitchFamily="34" charset="-120"/>
              </a:rPr>
              <a:t>Für Automatisierung und "Techies"</a:t>
            </a:r>
            <a:endParaRPr lang="en-US" sz="1200" dirty="0"/>
          </a:p>
        </p:txBody>
      </p:sp>
      <p:sp>
        <p:nvSpPr>
          <p:cNvPr id="11" name="Shape 9"/>
          <p:cNvSpPr/>
          <p:nvPr/>
        </p:nvSpPr>
        <p:spPr>
          <a:xfrm>
            <a:off x="7961858" y="1787525"/>
            <a:ext cx="3414167" cy="869950"/>
          </a:xfrm>
          <a:prstGeom prst="roundRect">
            <a:avLst>
              <a:gd name="adj" fmla="val 11314"/>
            </a:avLst>
          </a:prstGeom>
          <a:solidFill>
            <a:srgbClr val="FCFBF8"/>
          </a:solidFill>
          <a:ln w="6350">
            <a:solidFill>
              <a:srgbClr val="E2E0D8"/>
            </a:solidFill>
            <a:prstDash val="solid"/>
          </a:ln>
        </p:spPr>
        <p:txBody>
          <a:bodyPr/>
          <a:lstStyle/>
          <a:p>
            <a:endParaRPr lang="en-DE"/>
          </a:p>
        </p:txBody>
      </p:sp>
      <p:sp>
        <p:nvSpPr>
          <p:cNvPr id="12" name="Text 10"/>
          <p:cNvSpPr/>
          <p:nvPr/>
        </p:nvSpPr>
        <p:spPr>
          <a:xfrm>
            <a:off x="8168233" y="1968500"/>
            <a:ext cx="3091459"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B"/>
                </a:solidFill>
                <a:latin typeface="Space Grotesk" pitchFamily="34" charset="0"/>
                <a:ea typeface="Space Grotesk" pitchFamily="34" charset="-122"/>
                <a:cs typeface="Space Grotesk" pitchFamily="34" charset="-120"/>
              </a:rPr>
              <a:t>Add-In-Schnittstelle für E2E</a:t>
            </a:r>
            <a:endParaRPr lang="en-US" sz="1600" dirty="0"/>
          </a:p>
        </p:txBody>
      </p:sp>
      <p:sp>
        <p:nvSpPr>
          <p:cNvPr id="13" name="Text 11"/>
          <p:cNvSpPr/>
          <p:nvPr/>
        </p:nvSpPr>
        <p:spPr>
          <a:xfrm>
            <a:off x="8168233" y="2263130"/>
            <a:ext cx="309145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C"/>
                </a:solidFill>
                <a:latin typeface="IBM Plex Sans" pitchFamily="34" charset="0"/>
                <a:ea typeface="IBM Plex Sans" pitchFamily="34" charset="-122"/>
                <a:cs typeface="IBM Plex Sans" pitchFamily="34" charset="-120"/>
              </a:rPr>
              <a:t>Browser-Plugin oder Matrix</a:t>
            </a:r>
            <a:endParaRPr lang="en-US" sz="1200" dirty="0"/>
          </a:p>
        </p:txBody>
      </p:sp>
      <p:pic>
        <p:nvPicPr>
          <p:cNvPr id="14" name="Image 0" descr="arrow-down"/>
          <p:cNvPicPr>
            <a:picLocks noChangeAspect="1"/>
          </p:cNvPicPr>
          <p:nvPr/>
        </p:nvPicPr>
        <p:blipFill>
          <a:blip r:embed="rId3"/>
          <a:srcRect/>
          <a:stretch/>
        </p:blipFill>
        <p:spPr>
          <a:xfrm>
            <a:off x="2472234" y="2813050"/>
            <a:ext cx="203200" cy="304800"/>
          </a:xfrm>
          <a:prstGeom prst="rect">
            <a:avLst/>
          </a:prstGeom>
        </p:spPr>
      </p:pic>
      <p:pic>
        <p:nvPicPr>
          <p:cNvPr id="15" name="Image 1" descr="arrow-down"/>
          <p:cNvPicPr>
            <a:picLocks noChangeAspect="1"/>
          </p:cNvPicPr>
          <p:nvPr/>
        </p:nvPicPr>
        <p:blipFill>
          <a:blip r:embed="rId3"/>
          <a:srcRect/>
          <a:stretch/>
        </p:blipFill>
        <p:spPr>
          <a:xfrm>
            <a:off x="5994350" y="2813050"/>
            <a:ext cx="203200" cy="304800"/>
          </a:xfrm>
          <a:prstGeom prst="rect">
            <a:avLst/>
          </a:prstGeom>
        </p:spPr>
      </p:pic>
      <p:pic>
        <p:nvPicPr>
          <p:cNvPr id="16" name="Image 2" descr="arrow-down"/>
          <p:cNvPicPr>
            <a:picLocks noChangeAspect="1"/>
          </p:cNvPicPr>
          <p:nvPr/>
        </p:nvPicPr>
        <p:blipFill>
          <a:blip r:embed="rId3"/>
          <a:srcRect/>
          <a:stretch/>
        </p:blipFill>
        <p:spPr>
          <a:xfrm>
            <a:off x="9516517" y="2813050"/>
            <a:ext cx="203200" cy="304800"/>
          </a:xfrm>
          <a:prstGeom prst="rect">
            <a:avLst/>
          </a:prstGeom>
        </p:spPr>
      </p:pic>
      <p:sp>
        <p:nvSpPr>
          <p:cNvPr id="17" name="Shape 12"/>
          <p:cNvSpPr/>
          <p:nvPr/>
        </p:nvSpPr>
        <p:spPr>
          <a:xfrm>
            <a:off x="812800" y="3270250"/>
            <a:ext cx="10566400" cy="965200"/>
          </a:xfrm>
          <a:prstGeom prst="roundRect">
            <a:avLst>
              <a:gd name="adj" fmla="val 10526"/>
            </a:avLst>
          </a:prstGeom>
          <a:solidFill>
            <a:srgbClr val="12202B"/>
          </a:solidFill>
          <a:ln/>
        </p:spPr>
        <p:txBody>
          <a:bodyPr/>
          <a:lstStyle/>
          <a:p>
            <a:endParaRPr lang="en-DE" dirty="0"/>
          </a:p>
        </p:txBody>
      </p:sp>
      <p:pic>
        <p:nvPicPr>
          <p:cNvPr id="18" name="Image 3" descr="Lock"/>
          <p:cNvPicPr>
            <a:picLocks noChangeAspect="1"/>
          </p:cNvPicPr>
          <p:nvPr/>
        </p:nvPicPr>
        <p:blipFill>
          <a:blip r:embed="rId4"/>
          <a:srcRect/>
          <a:stretch/>
        </p:blipFill>
        <p:spPr>
          <a:xfrm>
            <a:off x="1066800" y="3549650"/>
            <a:ext cx="406400" cy="406400"/>
          </a:xfrm>
          <a:prstGeom prst="rect">
            <a:avLst/>
          </a:prstGeom>
        </p:spPr>
      </p:pic>
      <p:sp>
        <p:nvSpPr>
          <p:cNvPr id="19" name="Text 13"/>
          <p:cNvSpPr/>
          <p:nvPr/>
        </p:nvSpPr>
        <p:spPr>
          <a:xfrm>
            <a:off x="1727200" y="3474740"/>
            <a:ext cx="9679940" cy="299690"/>
          </a:xfrm>
          <a:prstGeom prst="rect">
            <a:avLst/>
          </a:prstGeom>
          <a:noFill/>
          <a:ln/>
        </p:spPr>
        <p:txBody>
          <a:bodyPr wrap="square" lIns="0" tIns="0" rIns="0" bIns="0" rtlCol="0" anchor="t">
            <a:normAutofit/>
          </a:bodyPr>
          <a:lstStyle/>
          <a:p>
            <a:pPr marL="0" indent="0" algn="l">
              <a:lnSpc>
                <a:spcPts val="2160"/>
              </a:lnSpc>
              <a:buNone/>
            </a:pPr>
            <a:r>
              <a:rPr lang="en-US" b="1" dirty="0" err="1">
                <a:solidFill>
                  <a:srgbClr val="F5F4EF"/>
                </a:solidFill>
                <a:latin typeface="Space Grotesk" pitchFamily="34" charset="0"/>
                <a:ea typeface="Space Grotesk" pitchFamily="34" charset="-122"/>
              </a:rPr>
              <a:t>Zweigleisiger</a:t>
            </a:r>
            <a:r>
              <a:rPr lang="en-US" b="1" dirty="0">
                <a:solidFill>
                  <a:srgbClr val="F5F4EF"/>
                </a:solidFill>
                <a:latin typeface="Space Grotesk" pitchFamily="34" charset="0"/>
                <a:ea typeface="Space Grotesk" pitchFamily="34" charset="-122"/>
              </a:rPr>
              <a:t> </a:t>
            </a:r>
            <a:r>
              <a:rPr lang="en-US" b="1" dirty="0" err="1">
                <a:solidFill>
                  <a:srgbClr val="F5F4EF"/>
                </a:solidFill>
                <a:latin typeface="Space Grotesk" pitchFamily="34" charset="0"/>
                <a:ea typeface="Space Grotesk" pitchFamily="34" charset="-122"/>
              </a:rPr>
              <a:t>Kryptokern</a:t>
            </a:r>
            <a:endParaRPr lang="en-US" sz="1800" dirty="0"/>
          </a:p>
        </p:txBody>
      </p:sp>
      <p:sp>
        <p:nvSpPr>
          <p:cNvPr id="20" name="Text 14"/>
          <p:cNvSpPr/>
          <p:nvPr/>
        </p:nvSpPr>
        <p:spPr>
          <a:xfrm>
            <a:off x="1727200" y="3799830"/>
            <a:ext cx="9679940" cy="256530"/>
          </a:xfrm>
          <a:prstGeom prst="rect">
            <a:avLst/>
          </a:prstGeom>
          <a:noFill/>
          <a:ln/>
        </p:spPr>
        <p:txBody>
          <a:bodyPr wrap="square" lIns="0" tIns="0" rIns="0" bIns="0" rtlCol="0" anchor="t">
            <a:normAutofit fontScale="92500"/>
          </a:bodyPr>
          <a:lstStyle/>
          <a:p>
            <a:pPr marL="0" indent="0" algn="l">
              <a:lnSpc>
                <a:spcPts val="1820"/>
              </a:lnSpc>
              <a:buNone/>
            </a:pPr>
            <a:r>
              <a:rPr lang="en-US" sz="1300" dirty="0">
                <a:solidFill>
                  <a:srgbClr val="C9D6DE"/>
                </a:solidFill>
                <a:latin typeface="IBM Plex Sans" pitchFamily="34" charset="0"/>
                <a:ea typeface="IBM Plex Sans" pitchFamily="34" charset="-122"/>
                <a:cs typeface="IBM Plex Sans" pitchFamily="34" charset="-120"/>
              </a:rPr>
              <a:t>Eigenes Dateiformat mit hybrider Post-Quanten-Kryptografie (X25519 + ML-KEM) </a:t>
            </a:r>
            <a:r>
              <a:rPr lang="en-US" sz="1300" dirty="0" err="1">
                <a:solidFill>
                  <a:srgbClr val="C9D6DE"/>
                </a:solidFill>
                <a:latin typeface="IBM Plex Sans" pitchFamily="34" charset="0"/>
                <a:ea typeface="IBM Plex Sans" pitchFamily="34" charset="-122"/>
                <a:cs typeface="IBM Plex Sans" pitchFamily="34" charset="-120"/>
              </a:rPr>
              <a:t>mit</a:t>
            </a:r>
            <a:r>
              <a:rPr lang="en-US" sz="1300" dirty="0">
                <a:solidFill>
                  <a:srgbClr val="C9D6DE"/>
                </a:solidFill>
                <a:latin typeface="IBM Plex Sans" pitchFamily="34" charset="0"/>
                <a:ea typeface="IBM Plex Sans" pitchFamily="34" charset="-122"/>
                <a:cs typeface="IBM Plex Sans" pitchFamily="34" charset="-120"/>
              </a:rPr>
              <a:t> </a:t>
            </a:r>
            <a:r>
              <a:rPr lang="en-US" sz="1300" dirty="0" err="1">
                <a:solidFill>
                  <a:srgbClr val="C9D6DE"/>
                </a:solidFill>
                <a:latin typeface="IBM Plex Sans" pitchFamily="34" charset="0"/>
                <a:ea typeface="IBM Plex Sans" pitchFamily="34" charset="-122"/>
                <a:cs typeface="IBM Plex Sans" pitchFamily="34" charset="-120"/>
              </a:rPr>
              <a:t>aws</a:t>
            </a:r>
            <a:r>
              <a:rPr lang="en-US" sz="1300" dirty="0">
                <a:solidFill>
                  <a:srgbClr val="C9D6DE"/>
                </a:solidFill>
                <a:latin typeface="IBM Plex Sans" pitchFamily="34" charset="0"/>
                <a:ea typeface="IBM Plex Sans" pitchFamily="34" charset="-122"/>
                <a:cs typeface="IBM Plex Sans" pitchFamily="34" charset="-120"/>
              </a:rPr>
              <a:t>-lc-</a:t>
            </a:r>
            <a:r>
              <a:rPr lang="en-US" sz="1300" dirty="0" err="1">
                <a:solidFill>
                  <a:srgbClr val="C9D6DE"/>
                </a:solidFill>
                <a:latin typeface="IBM Plex Sans" pitchFamily="34" charset="0"/>
                <a:ea typeface="IBM Plex Sans" pitchFamily="34" charset="-122"/>
                <a:cs typeface="IBM Plex Sans" pitchFamily="34" charset="-120"/>
              </a:rPr>
              <a:t>rs</a:t>
            </a:r>
            <a:r>
              <a:rPr lang="en-US" sz="1300" dirty="0">
                <a:solidFill>
                  <a:srgbClr val="C9D6DE"/>
                </a:solidFill>
                <a:latin typeface="IBM Plex Sans" pitchFamily="34" charset="0"/>
                <a:ea typeface="IBM Plex Sans" pitchFamily="34" charset="-122"/>
                <a:cs typeface="IBM Plex Sans" pitchFamily="34" charset="-120"/>
              </a:rPr>
              <a:t>· age-Format als erprobter Fallback</a:t>
            </a:r>
            <a:endParaRPr lang="en-US" sz="1300" dirty="0"/>
          </a:p>
        </p:txBody>
      </p:sp>
      <p:sp>
        <p:nvSpPr>
          <p:cNvPr id="21" name="Text 15"/>
          <p:cNvSpPr/>
          <p:nvPr/>
        </p:nvSpPr>
        <p:spPr>
          <a:xfrm>
            <a:off x="3847951" y="4381500"/>
            <a:ext cx="678309" cy="368300"/>
          </a:xfrm>
          <a:prstGeom prst="roundRect">
            <a:avLst>
              <a:gd name="adj" fmla="val 50000"/>
            </a:avLst>
          </a:prstGeom>
          <a:solidFill>
            <a:srgbClr val="E2E0D8"/>
          </a:solidFill>
          <a:ln/>
        </p:spPr>
        <p:txBody>
          <a:bodyPr wrap="none" lIns="0" tIns="0" rIns="0" bIns="0" rtlCol="0" anchor="ctr">
            <a:normAutofit/>
          </a:bodyPr>
          <a:lstStyle/>
          <a:p>
            <a:pPr marL="0" indent="0" algn="ctr">
              <a:lnSpc>
                <a:spcPts val="1680"/>
              </a:lnSpc>
              <a:buNone/>
            </a:pPr>
            <a:r>
              <a:rPr lang="en-US" sz="1200" b="1" dirty="0">
                <a:solidFill>
                  <a:srgbClr val="12202B"/>
                </a:solidFill>
                <a:latin typeface="IBM Plex Sans" pitchFamily="34" charset="0"/>
                <a:ea typeface="IBM Plex Sans" pitchFamily="34" charset="-122"/>
                <a:cs typeface="IBM Plex Sans" pitchFamily="34" charset="-120"/>
              </a:rPr>
              <a:t>Rust</a:t>
            </a:r>
            <a:endParaRPr lang="en-US" sz="1200" dirty="0"/>
          </a:p>
        </p:txBody>
      </p:sp>
      <p:sp>
        <p:nvSpPr>
          <p:cNvPr id="22" name="Text 16"/>
          <p:cNvSpPr/>
          <p:nvPr/>
        </p:nvSpPr>
        <p:spPr>
          <a:xfrm>
            <a:off x="4678660" y="4381500"/>
            <a:ext cx="1629221" cy="368300"/>
          </a:xfrm>
          <a:prstGeom prst="roundRect">
            <a:avLst>
              <a:gd name="adj" fmla="val 50000"/>
            </a:avLst>
          </a:prstGeom>
          <a:solidFill>
            <a:srgbClr val="E2E0D8"/>
          </a:solidFill>
          <a:ln/>
        </p:spPr>
        <p:txBody>
          <a:bodyPr wrap="none" lIns="0" tIns="0" rIns="0" bIns="0" rtlCol="0" anchor="ctr">
            <a:normAutofit/>
          </a:bodyPr>
          <a:lstStyle/>
          <a:p>
            <a:pPr marL="0" indent="0" algn="ctr">
              <a:lnSpc>
                <a:spcPts val="1680"/>
              </a:lnSpc>
              <a:buNone/>
            </a:pPr>
            <a:r>
              <a:rPr lang="en-US" sz="1200" b="1" dirty="0">
                <a:solidFill>
                  <a:srgbClr val="12202B"/>
                </a:solidFill>
                <a:latin typeface="IBM Plex Sans" pitchFamily="34" charset="0"/>
                <a:ea typeface="IBM Plex Sans" pitchFamily="34" charset="-122"/>
                <a:cs typeface="IBM Plex Sans" pitchFamily="34" charset="-120"/>
              </a:rPr>
              <a:t>age (rage-Projekt)</a:t>
            </a:r>
            <a:endParaRPr lang="en-US" sz="1200" dirty="0"/>
          </a:p>
        </p:txBody>
      </p:sp>
      <p:sp>
        <p:nvSpPr>
          <p:cNvPr id="23" name="Text 17"/>
          <p:cNvSpPr/>
          <p:nvPr/>
        </p:nvSpPr>
        <p:spPr>
          <a:xfrm>
            <a:off x="6460282" y="4381500"/>
            <a:ext cx="1021407" cy="368300"/>
          </a:xfrm>
          <a:prstGeom prst="roundRect">
            <a:avLst>
              <a:gd name="adj" fmla="val 50000"/>
            </a:avLst>
          </a:prstGeom>
          <a:solidFill>
            <a:srgbClr val="E2E0D8"/>
          </a:solidFill>
          <a:ln/>
        </p:spPr>
        <p:txBody>
          <a:bodyPr wrap="none" lIns="0" tIns="0" rIns="0" bIns="0" rtlCol="0" anchor="ctr">
            <a:normAutofit/>
          </a:bodyPr>
          <a:lstStyle/>
          <a:p>
            <a:pPr marL="0" indent="0" algn="ctr">
              <a:lnSpc>
                <a:spcPts val="1680"/>
              </a:lnSpc>
              <a:buNone/>
            </a:pPr>
            <a:r>
              <a:rPr lang="en-US" sz="1200" b="1" dirty="0">
                <a:solidFill>
                  <a:srgbClr val="12202B"/>
                </a:solidFill>
                <a:latin typeface="IBM Plex Sans" pitchFamily="34" charset="0"/>
                <a:ea typeface="IBM Plex Sans" pitchFamily="34" charset="-122"/>
                <a:cs typeface="IBM Plex Sans" pitchFamily="34" charset="-120"/>
              </a:rPr>
              <a:t>aws-lc-rs</a:t>
            </a:r>
            <a:endParaRPr lang="en-US" sz="1200" dirty="0"/>
          </a:p>
        </p:txBody>
      </p:sp>
      <p:sp>
        <p:nvSpPr>
          <p:cNvPr id="24" name="Text 18"/>
          <p:cNvSpPr/>
          <p:nvPr/>
        </p:nvSpPr>
        <p:spPr>
          <a:xfrm>
            <a:off x="7634089" y="4381500"/>
            <a:ext cx="709960" cy="368300"/>
          </a:xfrm>
          <a:prstGeom prst="roundRect">
            <a:avLst>
              <a:gd name="adj" fmla="val 50000"/>
            </a:avLst>
          </a:prstGeom>
          <a:solidFill>
            <a:srgbClr val="E2E0D8"/>
          </a:solidFill>
          <a:ln/>
        </p:spPr>
        <p:txBody>
          <a:bodyPr wrap="none" lIns="0" tIns="0" rIns="0" bIns="0" rtlCol="0" anchor="ctr">
            <a:normAutofit/>
          </a:bodyPr>
          <a:lstStyle/>
          <a:p>
            <a:pPr marL="0" indent="0" algn="ctr">
              <a:lnSpc>
                <a:spcPts val="1680"/>
              </a:lnSpc>
              <a:buNone/>
            </a:pPr>
            <a:r>
              <a:rPr lang="en-US" sz="1200" b="1" dirty="0">
                <a:solidFill>
                  <a:srgbClr val="12202B"/>
                </a:solidFill>
                <a:latin typeface="IBM Plex Sans" pitchFamily="34" charset="0"/>
                <a:ea typeface="IBM Plex Sans" pitchFamily="34" charset="-122"/>
                <a:cs typeface="IBM Plex Sans" pitchFamily="34" charset="-120"/>
              </a:rPr>
              <a:t>Tauri</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D7368"/>
                </a:solidFill>
                <a:latin typeface="IBM Plex Sans" pitchFamily="34" charset="0"/>
                <a:ea typeface="IBM Plex Sans" pitchFamily="34" charset="-122"/>
                <a:cs typeface="IBM Plex Sans" pitchFamily="34" charset="-120"/>
              </a:rPr>
              <a:t>MACHBARKEIT · PROTOTYP</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02B"/>
                </a:solidFill>
                <a:latin typeface="Space Grotesk" pitchFamily="34" charset="0"/>
                <a:ea typeface="Space Grotesk" pitchFamily="34" charset="-122"/>
                <a:cs typeface="Space Grotesk" pitchFamily="34" charset="-120"/>
              </a:rPr>
              <a:t>Nutzerzentriertes Vorgehen</a:t>
            </a:r>
            <a:endParaRPr lang="en-US" sz="3600" dirty="0"/>
          </a:p>
        </p:txBody>
      </p:sp>
      <p:sp>
        <p:nvSpPr>
          <p:cNvPr id="4" name="Shape 2"/>
          <p:cNvSpPr/>
          <p:nvPr/>
        </p:nvSpPr>
        <p:spPr>
          <a:xfrm>
            <a:off x="815975" y="1989386"/>
            <a:ext cx="2292350" cy="1977281"/>
          </a:xfrm>
          <a:prstGeom prst="roundRect">
            <a:avLst>
              <a:gd name="adj" fmla="val 4978"/>
            </a:avLst>
          </a:prstGeom>
          <a:solidFill>
            <a:srgbClr val="FCFBF8"/>
          </a:solidFill>
          <a:ln w="6350">
            <a:solidFill>
              <a:srgbClr val="E2E0D8"/>
            </a:solidFill>
            <a:prstDash val="solid"/>
          </a:ln>
        </p:spPr>
        <p:txBody>
          <a:bodyPr/>
          <a:lstStyle/>
          <a:p>
            <a:endParaRPr lang="en-DE"/>
          </a:p>
        </p:txBody>
      </p:sp>
      <p:sp>
        <p:nvSpPr>
          <p:cNvPr id="5" name="Text 3"/>
          <p:cNvSpPr/>
          <p:nvPr/>
        </p:nvSpPr>
        <p:spPr>
          <a:xfrm>
            <a:off x="1022350" y="2195761"/>
            <a:ext cx="19359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7368"/>
                </a:solidFill>
                <a:latin typeface="IBM Plex Sans" pitchFamily="34" charset="0"/>
                <a:ea typeface="IBM Plex Sans" pitchFamily="34" charset="-122"/>
                <a:cs typeface="IBM Plex Sans" pitchFamily="34" charset="-120"/>
              </a:rPr>
              <a:t>Schritt 1</a:t>
            </a:r>
            <a:endParaRPr lang="en-US" sz="1200" dirty="0"/>
          </a:p>
        </p:txBody>
      </p:sp>
      <p:sp>
        <p:nvSpPr>
          <p:cNvPr id="6" name="Text 4"/>
          <p:cNvSpPr/>
          <p:nvPr/>
        </p:nvSpPr>
        <p:spPr>
          <a:xfrm>
            <a:off x="1022350" y="2485281"/>
            <a:ext cx="193598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B"/>
                </a:solidFill>
                <a:latin typeface="Space Grotesk" pitchFamily="34" charset="0"/>
                <a:ea typeface="Space Grotesk" pitchFamily="34" charset="-122"/>
                <a:cs typeface="Space Grotesk" pitchFamily="34" charset="-120"/>
              </a:rPr>
              <a:t>Klickdummy</a:t>
            </a:r>
            <a:endParaRPr lang="en-US" sz="1800" dirty="0"/>
          </a:p>
        </p:txBody>
      </p:sp>
      <p:sp>
        <p:nvSpPr>
          <p:cNvPr id="7" name="Text 5"/>
          <p:cNvSpPr/>
          <p:nvPr/>
        </p:nvSpPr>
        <p:spPr>
          <a:xfrm>
            <a:off x="1022350" y="2835771"/>
            <a:ext cx="1935988"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C"/>
                </a:solidFill>
                <a:latin typeface="IBM Plex Sans" pitchFamily="34" charset="0"/>
                <a:ea typeface="IBM Plex Sans" pitchFamily="34" charset="-122"/>
                <a:cs typeface="IBM Plex Sans" pitchFamily="34" charset="-120"/>
              </a:rPr>
              <a:t>Oberfläche ohne Funktion, schnell mit Tauri erstellt</a:t>
            </a:r>
            <a:endParaRPr lang="en-US" sz="1300" dirty="0"/>
          </a:p>
        </p:txBody>
      </p:sp>
      <p:pic>
        <p:nvPicPr>
          <p:cNvPr id="8" name="Image 0" descr="arrow-right"/>
          <p:cNvPicPr>
            <a:picLocks noChangeAspect="1"/>
          </p:cNvPicPr>
          <p:nvPr/>
        </p:nvPicPr>
        <p:blipFill>
          <a:blip r:embed="rId3"/>
          <a:srcRect/>
          <a:stretch/>
        </p:blipFill>
        <p:spPr>
          <a:xfrm>
            <a:off x="3213100" y="2901801"/>
            <a:ext cx="254000" cy="152400"/>
          </a:xfrm>
          <a:prstGeom prst="rect">
            <a:avLst/>
          </a:prstGeom>
        </p:spPr>
      </p:pic>
      <p:sp>
        <p:nvSpPr>
          <p:cNvPr id="9" name="Shape 6"/>
          <p:cNvSpPr/>
          <p:nvPr/>
        </p:nvSpPr>
        <p:spPr>
          <a:xfrm>
            <a:off x="3571875" y="1989386"/>
            <a:ext cx="2292350" cy="1977281"/>
          </a:xfrm>
          <a:prstGeom prst="roundRect">
            <a:avLst>
              <a:gd name="adj" fmla="val 4978"/>
            </a:avLst>
          </a:prstGeom>
          <a:solidFill>
            <a:srgbClr val="FCFBF8"/>
          </a:solidFill>
          <a:ln w="6350">
            <a:solidFill>
              <a:srgbClr val="E2E0D8"/>
            </a:solidFill>
            <a:prstDash val="solid"/>
          </a:ln>
        </p:spPr>
        <p:txBody>
          <a:bodyPr/>
          <a:lstStyle/>
          <a:p>
            <a:endParaRPr lang="en-DE"/>
          </a:p>
        </p:txBody>
      </p:sp>
      <p:sp>
        <p:nvSpPr>
          <p:cNvPr id="10" name="Text 7"/>
          <p:cNvSpPr/>
          <p:nvPr/>
        </p:nvSpPr>
        <p:spPr>
          <a:xfrm>
            <a:off x="3778250" y="2195761"/>
            <a:ext cx="19359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7368"/>
                </a:solidFill>
                <a:latin typeface="IBM Plex Sans" pitchFamily="34" charset="0"/>
                <a:ea typeface="IBM Plex Sans" pitchFamily="34" charset="-122"/>
                <a:cs typeface="IBM Plex Sans" pitchFamily="34" charset="-120"/>
              </a:rPr>
              <a:t>Schritt 2</a:t>
            </a:r>
            <a:endParaRPr lang="en-US" sz="1200" dirty="0"/>
          </a:p>
        </p:txBody>
      </p:sp>
      <p:sp>
        <p:nvSpPr>
          <p:cNvPr id="11" name="Text 8"/>
          <p:cNvSpPr/>
          <p:nvPr/>
        </p:nvSpPr>
        <p:spPr>
          <a:xfrm>
            <a:off x="3778250" y="2485281"/>
            <a:ext cx="193598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B"/>
                </a:solidFill>
                <a:latin typeface="Space Grotesk" pitchFamily="34" charset="0"/>
                <a:ea typeface="Space Grotesk" pitchFamily="34" charset="-122"/>
                <a:cs typeface="Space Grotesk" pitchFamily="34" charset="-120"/>
              </a:rPr>
              <a:t>Beobachtung</a:t>
            </a:r>
            <a:endParaRPr lang="en-US" sz="1800" dirty="0"/>
          </a:p>
        </p:txBody>
      </p:sp>
      <p:sp>
        <p:nvSpPr>
          <p:cNvPr id="12" name="Text 9"/>
          <p:cNvSpPr/>
          <p:nvPr/>
        </p:nvSpPr>
        <p:spPr>
          <a:xfrm>
            <a:off x="3778250" y="2835771"/>
            <a:ext cx="1935988" cy="9499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C"/>
                </a:solidFill>
                <a:latin typeface="IBM Plex Sans" pitchFamily="34" charset="0"/>
                <a:ea typeface="IBM Plex Sans" pitchFamily="34" charset="-122"/>
                <a:cs typeface="IBM Plex Sans" pitchFamily="34" charset="-120"/>
              </a:rPr>
              <a:t>Testpersonen ohne Vorwissen lösen Aufgaben, ohne Einweisung</a:t>
            </a:r>
            <a:endParaRPr lang="en-US" sz="1300" dirty="0"/>
          </a:p>
        </p:txBody>
      </p:sp>
      <p:pic>
        <p:nvPicPr>
          <p:cNvPr id="13" name="Image 1" descr="arrow-right"/>
          <p:cNvPicPr>
            <a:picLocks noChangeAspect="1"/>
          </p:cNvPicPr>
          <p:nvPr/>
        </p:nvPicPr>
        <p:blipFill>
          <a:blip r:embed="rId3"/>
          <a:srcRect/>
          <a:stretch/>
        </p:blipFill>
        <p:spPr>
          <a:xfrm>
            <a:off x="5969000" y="2901801"/>
            <a:ext cx="254000" cy="152400"/>
          </a:xfrm>
          <a:prstGeom prst="rect">
            <a:avLst/>
          </a:prstGeom>
        </p:spPr>
      </p:pic>
      <p:sp>
        <p:nvSpPr>
          <p:cNvPr id="14" name="Shape 10"/>
          <p:cNvSpPr/>
          <p:nvPr/>
        </p:nvSpPr>
        <p:spPr>
          <a:xfrm>
            <a:off x="6327775" y="1989386"/>
            <a:ext cx="2292350" cy="1977281"/>
          </a:xfrm>
          <a:prstGeom prst="roundRect">
            <a:avLst>
              <a:gd name="adj" fmla="val 4978"/>
            </a:avLst>
          </a:prstGeom>
          <a:solidFill>
            <a:srgbClr val="FCFBF8"/>
          </a:solidFill>
          <a:ln w="6350">
            <a:solidFill>
              <a:srgbClr val="E2E0D8"/>
            </a:solidFill>
            <a:prstDash val="solid"/>
          </a:ln>
        </p:spPr>
        <p:txBody>
          <a:bodyPr/>
          <a:lstStyle/>
          <a:p>
            <a:endParaRPr lang="en-DE"/>
          </a:p>
        </p:txBody>
      </p:sp>
      <p:sp>
        <p:nvSpPr>
          <p:cNvPr id="15" name="Text 11"/>
          <p:cNvSpPr/>
          <p:nvPr/>
        </p:nvSpPr>
        <p:spPr>
          <a:xfrm>
            <a:off x="6534150" y="2195761"/>
            <a:ext cx="19359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7368"/>
                </a:solidFill>
                <a:latin typeface="IBM Plex Sans" pitchFamily="34" charset="0"/>
                <a:ea typeface="IBM Plex Sans" pitchFamily="34" charset="-122"/>
                <a:cs typeface="IBM Plex Sans" pitchFamily="34" charset="-120"/>
              </a:rPr>
              <a:t>Schritt 3</a:t>
            </a:r>
            <a:endParaRPr lang="en-US" sz="1200" dirty="0"/>
          </a:p>
        </p:txBody>
      </p:sp>
      <p:sp>
        <p:nvSpPr>
          <p:cNvPr id="16" name="Text 12"/>
          <p:cNvSpPr/>
          <p:nvPr/>
        </p:nvSpPr>
        <p:spPr>
          <a:xfrm>
            <a:off x="6534150" y="2485281"/>
            <a:ext cx="193598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B"/>
                </a:solidFill>
                <a:latin typeface="Space Grotesk" pitchFamily="34" charset="0"/>
                <a:ea typeface="Space Grotesk" pitchFamily="34" charset="-122"/>
                <a:cs typeface="Space Grotesk" pitchFamily="34" charset="-120"/>
              </a:rPr>
              <a:t>Umsetzung</a:t>
            </a:r>
            <a:endParaRPr lang="en-US" sz="1800" dirty="0"/>
          </a:p>
        </p:txBody>
      </p:sp>
      <p:sp>
        <p:nvSpPr>
          <p:cNvPr id="17" name="Text 13"/>
          <p:cNvSpPr/>
          <p:nvPr/>
        </p:nvSpPr>
        <p:spPr>
          <a:xfrm>
            <a:off x="6534150" y="2835771"/>
            <a:ext cx="1935988" cy="9499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C"/>
                </a:solidFill>
                <a:latin typeface="IBM Plex Sans" pitchFamily="34" charset="0"/>
                <a:ea typeface="IBM Plex Sans" pitchFamily="34" charset="-122"/>
                <a:cs typeface="IBM Plex Sans" pitchFamily="34" charset="-120"/>
              </a:rPr>
              <a:t>Oberfläche nach den Beobachtungen, angebunden an den Kryptokern</a:t>
            </a:r>
            <a:endParaRPr lang="en-US" sz="1300" dirty="0"/>
          </a:p>
        </p:txBody>
      </p:sp>
      <p:pic>
        <p:nvPicPr>
          <p:cNvPr id="18" name="Image 2" descr="arrow-right"/>
          <p:cNvPicPr>
            <a:picLocks noChangeAspect="1"/>
          </p:cNvPicPr>
          <p:nvPr/>
        </p:nvPicPr>
        <p:blipFill>
          <a:blip r:embed="rId3"/>
          <a:srcRect/>
          <a:stretch/>
        </p:blipFill>
        <p:spPr>
          <a:xfrm>
            <a:off x="8724900" y="2901801"/>
            <a:ext cx="254000" cy="152400"/>
          </a:xfrm>
          <a:prstGeom prst="rect">
            <a:avLst/>
          </a:prstGeom>
        </p:spPr>
      </p:pic>
      <p:sp>
        <p:nvSpPr>
          <p:cNvPr id="19" name="Shape 14"/>
          <p:cNvSpPr/>
          <p:nvPr/>
        </p:nvSpPr>
        <p:spPr>
          <a:xfrm>
            <a:off x="9083675" y="1989386"/>
            <a:ext cx="2292350" cy="1977281"/>
          </a:xfrm>
          <a:prstGeom prst="roundRect">
            <a:avLst>
              <a:gd name="adj" fmla="val 4978"/>
            </a:avLst>
          </a:prstGeom>
          <a:solidFill>
            <a:srgbClr val="FCFBF8"/>
          </a:solidFill>
          <a:ln w="6350">
            <a:solidFill>
              <a:srgbClr val="E2E0D8"/>
            </a:solidFill>
            <a:prstDash val="solid"/>
          </a:ln>
        </p:spPr>
        <p:txBody>
          <a:bodyPr/>
          <a:lstStyle/>
          <a:p>
            <a:endParaRPr lang="en-DE"/>
          </a:p>
        </p:txBody>
      </p:sp>
      <p:sp>
        <p:nvSpPr>
          <p:cNvPr id="20" name="Text 15"/>
          <p:cNvSpPr/>
          <p:nvPr/>
        </p:nvSpPr>
        <p:spPr>
          <a:xfrm>
            <a:off x="9290050" y="2195761"/>
            <a:ext cx="19359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7368"/>
                </a:solidFill>
                <a:latin typeface="IBM Plex Sans" pitchFamily="34" charset="0"/>
                <a:ea typeface="IBM Plex Sans" pitchFamily="34" charset="-122"/>
                <a:cs typeface="IBM Plex Sans" pitchFamily="34" charset="-120"/>
              </a:rPr>
              <a:t>Schritt 4</a:t>
            </a:r>
            <a:endParaRPr lang="en-US" sz="1200" dirty="0"/>
          </a:p>
        </p:txBody>
      </p:sp>
      <p:sp>
        <p:nvSpPr>
          <p:cNvPr id="21" name="Text 16"/>
          <p:cNvSpPr/>
          <p:nvPr/>
        </p:nvSpPr>
        <p:spPr>
          <a:xfrm>
            <a:off x="9290050" y="2485281"/>
            <a:ext cx="193598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B"/>
                </a:solidFill>
                <a:latin typeface="Space Grotesk" pitchFamily="34" charset="0"/>
                <a:ea typeface="Space Grotesk" pitchFamily="34" charset="-122"/>
                <a:cs typeface="Space Grotesk" pitchFamily="34" charset="-120"/>
              </a:rPr>
              <a:t>Evaluation</a:t>
            </a:r>
            <a:endParaRPr lang="en-US" sz="1800" dirty="0"/>
          </a:p>
        </p:txBody>
      </p:sp>
      <p:sp>
        <p:nvSpPr>
          <p:cNvPr id="22" name="Text 17"/>
          <p:cNvSpPr/>
          <p:nvPr/>
        </p:nvSpPr>
        <p:spPr>
          <a:xfrm>
            <a:off x="9290050" y="2835771"/>
            <a:ext cx="193598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5C"/>
                </a:solidFill>
                <a:latin typeface="IBM Plex Sans" pitchFamily="34" charset="0"/>
                <a:ea typeface="IBM Plex Sans" pitchFamily="34" charset="-122"/>
                <a:cs typeface="IBM Plex Sans" pitchFamily="34" charset="-120"/>
              </a:rPr>
              <a:t>Usability-Studie mit der fertigen Anwendung</a:t>
            </a:r>
            <a:endParaRPr lang="en-US" sz="1300" dirty="0"/>
          </a:p>
        </p:txBody>
      </p:sp>
      <p:sp>
        <p:nvSpPr>
          <p:cNvPr id="23" name="Text 18"/>
          <p:cNvSpPr/>
          <p:nvPr/>
        </p:nvSpPr>
        <p:spPr>
          <a:xfrm>
            <a:off x="812800" y="4325441"/>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2202B"/>
                </a:solidFill>
                <a:latin typeface="IBM Plex Sans" pitchFamily="34" charset="0"/>
                <a:ea typeface="IBM Plex Sans" pitchFamily="34" charset="-122"/>
                <a:cs typeface="IBM Plex Sans" pitchFamily="34" charset="-120"/>
              </a:rPr>
              <a:t>Die Oberfläche entsteht aus Beobachtungen echter Nutzer, nicht aus Annahmen.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20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7FD6C8"/>
                </a:solidFill>
                <a:latin typeface="IBM Plex Sans" pitchFamily="34" charset="0"/>
                <a:ea typeface="IBM Plex Sans" pitchFamily="34" charset="-122"/>
                <a:cs typeface="IBM Plex Sans" pitchFamily="34" charset="-120"/>
              </a:rPr>
              <a:t>ERWARTETES ERGEBNIS</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5F4EF"/>
                </a:solidFill>
                <a:latin typeface="Space Grotesk" pitchFamily="34" charset="0"/>
                <a:ea typeface="Space Grotesk" pitchFamily="34" charset="-122"/>
                <a:cs typeface="Space Grotesk" pitchFamily="34" charset="-120"/>
              </a:rPr>
              <a:t>Sicherheit, die jeder bedienen kann</a:t>
            </a:r>
            <a:endParaRPr lang="en-US" sz="3600" dirty="0"/>
          </a:p>
        </p:txBody>
      </p:sp>
      <p:sp>
        <p:nvSpPr>
          <p:cNvPr id="4" name="Shape 2"/>
          <p:cNvSpPr/>
          <p:nvPr/>
        </p:nvSpPr>
        <p:spPr>
          <a:xfrm>
            <a:off x="812800" y="1986211"/>
            <a:ext cx="3420517" cy="1610271"/>
          </a:xfrm>
          <a:prstGeom prst="roundRect">
            <a:avLst>
              <a:gd name="adj" fmla="val 6309"/>
            </a:avLst>
          </a:prstGeom>
          <a:solidFill>
            <a:srgbClr val="1C2F3D"/>
          </a:solidFill>
          <a:ln/>
        </p:spPr>
        <p:txBody>
          <a:bodyPr/>
          <a:lstStyle/>
          <a:p>
            <a:endParaRPr lang="en-DE"/>
          </a:p>
        </p:txBody>
      </p:sp>
      <p:pic>
        <p:nvPicPr>
          <p:cNvPr id="5" name="Image 0" descr="Users"/>
          <p:cNvPicPr>
            <a:picLocks noChangeAspect="1"/>
          </p:cNvPicPr>
          <p:nvPr/>
        </p:nvPicPr>
        <p:blipFill>
          <a:blip r:embed="rId3"/>
          <a:srcRect/>
          <a:stretch/>
        </p:blipFill>
        <p:spPr>
          <a:xfrm>
            <a:off x="1041400" y="2214811"/>
            <a:ext cx="304800" cy="304800"/>
          </a:xfrm>
          <a:prstGeom prst="rect">
            <a:avLst/>
          </a:prstGeom>
        </p:spPr>
      </p:pic>
      <p:sp>
        <p:nvSpPr>
          <p:cNvPr id="6" name="Text 3"/>
          <p:cNvSpPr/>
          <p:nvPr/>
        </p:nvSpPr>
        <p:spPr>
          <a:xfrm>
            <a:off x="1041400" y="2621211"/>
            <a:ext cx="3052216"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4EF"/>
                </a:solidFill>
                <a:latin typeface="IBM Plex Sans" pitchFamily="34" charset="0"/>
                <a:ea typeface="IBM Plex Sans" pitchFamily="34" charset="-122"/>
                <a:cs typeface="IBM Plex Sans" pitchFamily="34" charset="-120"/>
              </a:rPr>
              <a:t>Desktop-Anwendung für Windows und Linux, ohne Vorwissen bedienbar</a:t>
            </a:r>
            <a:endParaRPr lang="en-US" sz="1400" dirty="0"/>
          </a:p>
        </p:txBody>
      </p:sp>
      <p:sp>
        <p:nvSpPr>
          <p:cNvPr id="7" name="Shape 4"/>
          <p:cNvSpPr/>
          <p:nvPr/>
        </p:nvSpPr>
        <p:spPr>
          <a:xfrm>
            <a:off x="4385717" y="1986211"/>
            <a:ext cx="3420517" cy="1610271"/>
          </a:xfrm>
          <a:prstGeom prst="roundRect">
            <a:avLst>
              <a:gd name="adj" fmla="val 6309"/>
            </a:avLst>
          </a:prstGeom>
          <a:solidFill>
            <a:srgbClr val="1C2F3D"/>
          </a:solidFill>
          <a:ln/>
        </p:spPr>
        <p:txBody>
          <a:bodyPr/>
          <a:lstStyle/>
          <a:p>
            <a:endParaRPr lang="en-DE"/>
          </a:p>
        </p:txBody>
      </p:sp>
      <p:pic>
        <p:nvPicPr>
          <p:cNvPr id="8" name="Image 1" descr="Key"/>
          <p:cNvPicPr>
            <a:picLocks noChangeAspect="1"/>
          </p:cNvPicPr>
          <p:nvPr/>
        </p:nvPicPr>
        <p:blipFill>
          <a:blip r:embed="rId4"/>
          <a:srcRect/>
          <a:stretch/>
        </p:blipFill>
        <p:spPr>
          <a:xfrm>
            <a:off x="4614317" y="2214811"/>
            <a:ext cx="304800" cy="304800"/>
          </a:xfrm>
          <a:prstGeom prst="rect">
            <a:avLst/>
          </a:prstGeom>
        </p:spPr>
      </p:pic>
      <p:sp>
        <p:nvSpPr>
          <p:cNvPr id="9" name="Text 5"/>
          <p:cNvSpPr/>
          <p:nvPr/>
        </p:nvSpPr>
        <p:spPr>
          <a:xfrm>
            <a:off x="4614317" y="2621211"/>
            <a:ext cx="3052216"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4EF"/>
                </a:solidFill>
                <a:latin typeface="IBM Plex Sans" pitchFamily="34" charset="0"/>
                <a:ea typeface="IBM Plex Sans" pitchFamily="34" charset="-122"/>
                <a:cs typeface="IBM Plex Sans" pitchFamily="34" charset="-120"/>
              </a:rPr>
              <a:t>Eigenes Dateiformat und Protokoll mit hybrider Post-Quanten-Kryptografie</a:t>
            </a:r>
            <a:endParaRPr lang="en-US" sz="1400" dirty="0"/>
          </a:p>
        </p:txBody>
      </p:sp>
      <p:sp>
        <p:nvSpPr>
          <p:cNvPr id="10" name="Shape 6"/>
          <p:cNvSpPr/>
          <p:nvPr/>
        </p:nvSpPr>
        <p:spPr>
          <a:xfrm>
            <a:off x="7958634" y="1986211"/>
            <a:ext cx="3420566" cy="1610271"/>
          </a:xfrm>
          <a:prstGeom prst="roundRect">
            <a:avLst>
              <a:gd name="adj" fmla="val 6309"/>
            </a:avLst>
          </a:prstGeom>
          <a:solidFill>
            <a:srgbClr val="1C2F3D"/>
          </a:solidFill>
          <a:ln/>
        </p:spPr>
        <p:txBody>
          <a:bodyPr/>
          <a:lstStyle/>
          <a:p>
            <a:endParaRPr lang="en-DE"/>
          </a:p>
        </p:txBody>
      </p:sp>
      <p:pic>
        <p:nvPicPr>
          <p:cNvPr id="11" name="Image 2" descr="Link"/>
          <p:cNvPicPr>
            <a:picLocks noChangeAspect="1"/>
          </p:cNvPicPr>
          <p:nvPr/>
        </p:nvPicPr>
        <p:blipFill>
          <a:blip r:embed="rId5"/>
          <a:srcRect/>
          <a:stretch/>
        </p:blipFill>
        <p:spPr>
          <a:xfrm>
            <a:off x="8187234" y="2214811"/>
            <a:ext cx="304800" cy="304800"/>
          </a:xfrm>
          <a:prstGeom prst="rect">
            <a:avLst/>
          </a:prstGeom>
        </p:spPr>
      </p:pic>
      <p:sp>
        <p:nvSpPr>
          <p:cNvPr id="12" name="Text 7"/>
          <p:cNvSpPr/>
          <p:nvPr/>
        </p:nvSpPr>
        <p:spPr>
          <a:xfrm>
            <a:off x="8187234" y="2621211"/>
            <a:ext cx="3052267"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4EF"/>
                </a:solidFill>
                <a:latin typeface="IBM Plex Sans" pitchFamily="34" charset="0"/>
                <a:ea typeface="IBM Plex Sans" pitchFamily="34" charset="-122"/>
                <a:cs typeface="IBM Plex Sans" pitchFamily="34" charset="-120"/>
              </a:rPr>
              <a:t>Erprobtes age-Format als Alternative, wählbar in den Einstellungen</a:t>
            </a:r>
            <a:endParaRPr lang="en-US" sz="1400" dirty="0"/>
          </a:p>
        </p:txBody>
      </p:sp>
      <p:sp>
        <p:nvSpPr>
          <p:cNvPr id="13" name="Shape 8"/>
          <p:cNvSpPr/>
          <p:nvPr/>
        </p:nvSpPr>
        <p:spPr>
          <a:xfrm>
            <a:off x="812800" y="3748881"/>
            <a:ext cx="3420517" cy="1610271"/>
          </a:xfrm>
          <a:prstGeom prst="roundRect">
            <a:avLst>
              <a:gd name="adj" fmla="val 6309"/>
            </a:avLst>
          </a:prstGeom>
          <a:solidFill>
            <a:srgbClr val="1C2F3D"/>
          </a:solidFill>
          <a:ln/>
        </p:spPr>
        <p:txBody>
          <a:bodyPr/>
          <a:lstStyle/>
          <a:p>
            <a:endParaRPr lang="en-DE"/>
          </a:p>
        </p:txBody>
      </p:sp>
      <p:pic>
        <p:nvPicPr>
          <p:cNvPr id="14" name="Image 3" descr="Code"/>
          <p:cNvPicPr>
            <a:picLocks noChangeAspect="1"/>
          </p:cNvPicPr>
          <p:nvPr/>
        </p:nvPicPr>
        <p:blipFill>
          <a:blip r:embed="rId6"/>
          <a:srcRect/>
          <a:stretch/>
        </p:blipFill>
        <p:spPr>
          <a:xfrm>
            <a:off x="1041400" y="3977481"/>
            <a:ext cx="304800" cy="304800"/>
          </a:xfrm>
          <a:prstGeom prst="rect">
            <a:avLst/>
          </a:prstGeom>
        </p:spPr>
      </p:pic>
      <p:sp>
        <p:nvSpPr>
          <p:cNvPr id="15" name="Text 9"/>
          <p:cNvSpPr/>
          <p:nvPr/>
        </p:nvSpPr>
        <p:spPr>
          <a:xfrm>
            <a:off x="1041400" y="4383881"/>
            <a:ext cx="3052216"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4EF"/>
                </a:solidFill>
                <a:latin typeface="IBM Plex Sans" pitchFamily="34" charset="0"/>
                <a:ea typeface="IBM Plex Sans" pitchFamily="34" charset="-122"/>
                <a:cs typeface="IBM Plex Sans" pitchFamily="34" charset="-120"/>
              </a:rPr>
              <a:t>Kommandozeile für technisch versierte Nutzer und Automatisierung</a:t>
            </a:r>
            <a:endParaRPr lang="en-US" sz="1400" dirty="0"/>
          </a:p>
        </p:txBody>
      </p:sp>
      <p:sp>
        <p:nvSpPr>
          <p:cNvPr id="16" name="Shape 10"/>
          <p:cNvSpPr/>
          <p:nvPr/>
        </p:nvSpPr>
        <p:spPr>
          <a:xfrm>
            <a:off x="4385717" y="3748881"/>
            <a:ext cx="3420517" cy="1610271"/>
          </a:xfrm>
          <a:prstGeom prst="roundRect">
            <a:avLst>
              <a:gd name="adj" fmla="val 6309"/>
            </a:avLst>
          </a:prstGeom>
          <a:solidFill>
            <a:srgbClr val="1C2F3D"/>
          </a:solidFill>
          <a:ln/>
        </p:spPr>
        <p:txBody>
          <a:bodyPr/>
          <a:lstStyle/>
          <a:p>
            <a:endParaRPr lang="en-DE"/>
          </a:p>
        </p:txBody>
      </p:sp>
      <p:pic>
        <p:nvPicPr>
          <p:cNvPr id="17" name="Image 4" descr="Chat"/>
          <p:cNvPicPr>
            <a:picLocks noChangeAspect="1"/>
          </p:cNvPicPr>
          <p:nvPr/>
        </p:nvPicPr>
        <p:blipFill>
          <a:blip r:embed="rId7"/>
          <a:srcRect/>
          <a:stretch/>
        </p:blipFill>
        <p:spPr>
          <a:xfrm>
            <a:off x="4614317" y="3977481"/>
            <a:ext cx="304800" cy="304800"/>
          </a:xfrm>
          <a:prstGeom prst="rect">
            <a:avLst/>
          </a:prstGeom>
        </p:spPr>
      </p:pic>
      <p:sp>
        <p:nvSpPr>
          <p:cNvPr id="18" name="Text 11"/>
          <p:cNvSpPr/>
          <p:nvPr/>
        </p:nvSpPr>
        <p:spPr>
          <a:xfrm>
            <a:off x="4614317" y="4383881"/>
            <a:ext cx="3052216"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4EF"/>
                </a:solidFill>
                <a:latin typeface="IBM Plex Sans" pitchFamily="34" charset="0"/>
                <a:ea typeface="IBM Plex Sans" pitchFamily="34" charset="-122"/>
                <a:cs typeface="IBM Plex Sans" pitchFamily="34" charset="-120"/>
              </a:rPr>
              <a:t>Schnittstelle für Ende-zu-Ende-verschlüsselte Kommunikation</a:t>
            </a:r>
            <a:endParaRPr lang="en-US" sz="1400" dirty="0"/>
          </a:p>
        </p:txBody>
      </p:sp>
      <p:sp>
        <p:nvSpPr>
          <p:cNvPr id="19" name="Shape 12"/>
          <p:cNvSpPr/>
          <p:nvPr/>
        </p:nvSpPr>
        <p:spPr>
          <a:xfrm>
            <a:off x="7958634" y="3748881"/>
            <a:ext cx="3420566" cy="1610271"/>
          </a:xfrm>
          <a:prstGeom prst="roundRect">
            <a:avLst>
              <a:gd name="adj" fmla="val 6309"/>
            </a:avLst>
          </a:prstGeom>
          <a:solidFill>
            <a:srgbClr val="1C2F3D"/>
          </a:solidFill>
          <a:ln/>
        </p:spPr>
        <p:txBody>
          <a:bodyPr/>
          <a:lstStyle/>
          <a:p>
            <a:endParaRPr lang="en-DE"/>
          </a:p>
        </p:txBody>
      </p:sp>
      <p:pic>
        <p:nvPicPr>
          <p:cNvPr id="20" name="Image 5" descr="Lightbulb"/>
          <p:cNvPicPr>
            <a:picLocks noChangeAspect="1"/>
          </p:cNvPicPr>
          <p:nvPr/>
        </p:nvPicPr>
        <p:blipFill>
          <a:blip r:embed="rId8"/>
          <a:srcRect/>
          <a:stretch/>
        </p:blipFill>
        <p:spPr>
          <a:xfrm>
            <a:off x="8187234" y="3977481"/>
            <a:ext cx="304800" cy="304800"/>
          </a:xfrm>
          <a:prstGeom prst="rect">
            <a:avLst/>
          </a:prstGeom>
        </p:spPr>
      </p:pic>
      <p:sp>
        <p:nvSpPr>
          <p:cNvPr id="21" name="Text 13"/>
          <p:cNvSpPr/>
          <p:nvPr/>
        </p:nvSpPr>
        <p:spPr>
          <a:xfrm>
            <a:off x="8187234" y="4383881"/>
            <a:ext cx="3052267"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4EF"/>
                </a:solidFill>
                <a:latin typeface="IBM Plex Sans" pitchFamily="34" charset="0"/>
                <a:ea typeface="IBM Plex Sans" pitchFamily="34" charset="-122"/>
                <a:cs typeface="IBM Plex Sans" pitchFamily="34" charset="-120"/>
              </a:rPr>
              <a:t>Dokumentierte UX-Erkenntnisse aus Konkurrenzanalyse und Nutzertests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D7368"/>
                </a:solidFill>
                <a:latin typeface="IBM Plex Sans" pitchFamily="34" charset="0"/>
                <a:ea typeface="IBM Plex Sans" pitchFamily="34" charset="-122"/>
                <a:cs typeface="IBM Plex Sans" pitchFamily="34" charset="-120"/>
              </a:rPr>
              <a:t>EVALUIERUNG</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02B"/>
                </a:solidFill>
                <a:latin typeface="Space Grotesk" pitchFamily="34" charset="0"/>
                <a:ea typeface="Space Grotesk" pitchFamily="34" charset="-122"/>
                <a:cs typeface="Space Grotesk" pitchFamily="34" charset="-120"/>
              </a:rPr>
              <a:t>Wie wir den Erfolg messen</a:t>
            </a:r>
            <a:endParaRPr lang="en-US" sz="3600" dirty="0"/>
          </a:p>
        </p:txBody>
      </p:sp>
      <p:sp>
        <p:nvSpPr>
          <p:cNvPr id="4" name="Shape 2"/>
          <p:cNvSpPr/>
          <p:nvPr/>
        </p:nvSpPr>
        <p:spPr>
          <a:xfrm>
            <a:off x="815975" y="1989386"/>
            <a:ext cx="3380284" cy="2452291"/>
          </a:xfrm>
          <a:prstGeom prst="roundRect">
            <a:avLst>
              <a:gd name="adj" fmla="val 4014"/>
            </a:avLst>
          </a:prstGeom>
          <a:solidFill>
            <a:srgbClr val="FCFBF8"/>
          </a:solidFill>
          <a:ln w="6350">
            <a:solidFill>
              <a:srgbClr val="E2E0D8"/>
            </a:solidFill>
            <a:prstDash val="solid"/>
          </a:ln>
        </p:spPr>
        <p:txBody>
          <a:bodyPr/>
          <a:lstStyle/>
          <a:p>
            <a:endParaRPr lang="en-DE"/>
          </a:p>
        </p:txBody>
      </p:sp>
      <p:pic>
        <p:nvPicPr>
          <p:cNvPr id="5" name="Image 0" descr="Users"/>
          <p:cNvPicPr>
            <a:picLocks noChangeAspect="1"/>
          </p:cNvPicPr>
          <p:nvPr/>
        </p:nvPicPr>
        <p:blipFill>
          <a:blip r:embed="rId3"/>
          <a:srcRect/>
          <a:stretch/>
        </p:blipFill>
        <p:spPr>
          <a:xfrm>
            <a:off x="1073150" y="2246561"/>
            <a:ext cx="304800" cy="304800"/>
          </a:xfrm>
          <a:prstGeom prst="rect">
            <a:avLst/>
          </a:prstGeom>
        </p:spPr>
      </p:pic>
      <p:sp>
        <p:nvSpPr>
          <p:cNvPr id="6" name="Text 3"/>
          <p:cNvSpPr/>
          <p:nvPr/>
        </p:nvSpPr>
        <p:spPr>
          <a:xfrm>
            <a:off x="1073150" y="2652961"/>
            <a:ext cx="295191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B"/>
                </a:solidFill>
                <a:latin typeface="Space Grotesk" pitchFamily="34" charset="0"/>
                <a:ea typeface="Space Grotesk" pitchFamily="34" charset="-122"/>
                <a:cs typeface="Space Grotesk" pitchFamily="34" charset="-120"/>
              </a:rPr>
              <a:t>Usability</a:t>
            </a:r>
            <a:endParaRPr lang="en-US" sz="1800" dirty="0"/>
          </a:p>
        </p:txBody>
      </p:sp>
      <p:sp>
        <p:nvSpPr>
          <p:cNvPr id="7" name="Text 4"/>
          <p:cNvSpPr/>
          <p:nvPr/>
        </p:nvSpPr>
        <p:spPr>
          <a:xfrm>
            <a:off x="1158494" y="3028851"/>
            <a:ext cx="2858948" cy="1181050"/>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44505C"/>
                </a:solidFill>
                <a:latin typeface="IBM Plex Sans" pitchFamily="34" charset="0"/>
                <a:ea typeface="IBM Plex Sans" pitchFamily="34" charset="-122"/>
                <a:cs typeface="IBM Plex Sans" pitchFamily="34" charset="-120"/>
              </a:rPr>
              <a:t>Beobachtung von Testpersonen ohne Vorwissen</a:t>
            </a:r>
            <a:endParaRPr lang="en-US" sz="1300" dirty="0"/>
          </a:p>
          <a:p>
            <a:pPr marL="168656" indent="-168656" algn="l">
              <a:lnSpc>
                <a:spcPts val="1820"/>
              </a:lnSpc>
              <a:buSzPct val="100000"/>
              <a:buChar char="•"/>
            </a:pPr>
            <a:r>
              <a:rPr lang="en-US" sz="1300" dirty="0">
                <a:solidFill>
                  <a:srgbClr val="44505C"/>
                </a:solidFill>
                <a:latin typeface="IBM Plex Sans" pitchFamily="34" charset="0"/>
                <a:ea typeface="IBM Plex Sans" pitchFamily="34" charset="-122"/>
                <a:cs typeface="IBM Plex Sans" pitchFamily="34" charset="-120"/>
              </a:rPr>
              <a:t>System Usability Scale (SUS)</a:t>
            </a:r>
            <a:endParaRPr lang="en-US" sz="1300" dirty="0"/>
          </a:p>
          <a:p>
            <a:pPr marL="168656" indent="-168656" algn="l">
              <a:lnSpc>
                <a:spcPts val="1820"/>
              </a:lnSpc>
              <a:buSzPct val="100000"/>
              <a:buChar char="•"/>
            </a:pPr>
            <a:r>
              <a:rPr lang="en-US" sz="1300" dirty="0">
                <a:solidFill>
                  <a:srgbClr val="44505C"/>
                </a:solidFill>
                <a:latin typeface="IBM Plex Sans" pitchFamily="34" charset="0"/>
                <a:ea typeface="IBM Plex Sans" pitchFamily="34" charset="-122"/>
                <a:cs typeface="IBM Plex Sans" pitchFamily="34" charset="-120"/>
              </a:rPr>
              <a:t>Vergleich mit der Konkurrenz anhand derselben Aufgaben</a:t>
            </a:r>
            <a:endParaRPr lang="en-US" sz="1300" dirty="0"/>
          </a:p>
        </p:txBody>
      </p:sp>
      <p:sp>
        <p:nvSpPr>
          <p:cNvPr id="8" name="Shape 5"/>
          <p:cNvSpPr/>
          <p:nvPr/>
        </p:nvSpPr>
        <p:spPr>
          <a:xfrm>
            <a:off x="4405809" y="1989386"/>
            <a:ext cx="3380333" cy="2452291"/>
          </a:xfrm>
          <a:prstGeom prst="roundRect">
            <a:avLst>
              <a:gd name="adj" fmla="val 4014"/>
            </a:avLst>
          </a:prstGeom>
          <a:solidFill>
            <a:srgbClr val="FCFBF8"/>
          </a:solidFill>
          <a:ln w="6350">
            <a:solidFill>
              <a:srgbClr val="E2E0D8"/>
            </a:solidFill>
            <a:prstDash val="solid"/>
          </a:ln>
        </p:spPr>
        <p:txBody>
          <a:bodyPr/>
          <a:lstStyle/>
          <a:p>
            <a:endParaRPr lang="en-DE"/>
          </a:p>
        </p:txBody>
      </p:sp>
      <p:pic>
        <p:nvPicPr>
          <p:cNvPr id="9" name="Image 1" descr="Verified"/>
          <p:cNvPicPr>
            <a:picLocks noChangeAspect="1"/>
          </p:cNvPicPr>
          <p:nvPr/>
        </p:nvPicPr>
        <p:blipFill>
          <a:blip r:embed="rId4"/>
          <a:srcRect/>
          <a:stretch/>
        </p:blipFill>
        <p:spPr>
          <a:xfrm>
            <a:off x="4662984" y="2246561"/>
            <a:ext cx="304800" cy="304800"/>
          </a:xfrm>
          <a:prstGeom prst="rect">
            <a:avLst/>
          </a:prstGeom>
        </p:spPr>
      </p:pic>
      <p:sp>
        <p:nvSpPr>
          <p:cNvPr id="10" name="Text 6"/>
          <p:cNvSpPr/>
          <p:nvPr/>
        </p:nvSpPr>
        <p:spPr>
          <a:xfrm>
            <a:off x="4662984" y="2652961"/>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B"/>
                </a:solidFill>
                <a:latin typeface="Space Grotesk" pitchFamily="34" charset="0"/>
                <a:ea typeface="Space Grotesk" pitchFamily="34" charset="-122"/>
                <a:cs typeface="Space Grotesk" pitchFamily="34" charset="-120"/>
              </a:rPr>
              <a:t>Sicherheit</a:t>
            </a:r>
            <a:endParaRPr lang="en-US" sz="1800" dirty="0"/>
          </a:p>
        </p:txBody>
      </p:sp>
      <p:sp>
        <p:nvSpPr>
          <p:cNvPr id="11" name="Text 7"/>
          <p:cNvSpPr/>
          <p:nvPr/>
        </p:nvSpPr>
        <p:spPr>
          <a:xfrm>
            <a:off x="4748328" y="3028851"/>
            <a:ext cx="2858999" cy="949920"/>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44505C"/>
                </a:solidFill>
                <a:latin typeface="IBM Plex Sans" pitchFamily="34" charset="0"/>
                <a:ea typeface="IBM Plex Sans" pitchFamily="34" charset="-122"/>
                <a:cs typeface="IBM Plex Sans" pitchFamily="34" charset="-120"/>
              </a:rPr>
              <a:t>Unit-Tests</a:t>
            </a:r>
            <a:endParaRPr lang="en-US" sz="1300" dirty="0"/>
          </a:p>
          <a:p>
            <a:pPr marL="168656" indent="-168656" algn="l">
              <a:lnSpc>
                <a:spcPts val="1820"/>
              </a:lnSpc>
              <a:buSzPct val="100000"/>
              <a:buChar char="•"/>
            </a:pPr>
            <a:r>
              <a:rPr lang="en-US" sz="1300" dirty="0">
                <a:solidFill>
                  <a:srgbClr val="44505C"/>
                </a:solidFill>
                <a:latin typeface="IBM Plex Sans" pitchFamily="34" charset="0"/>
                <a:ea typeface="IBM Plex Sans" pitchFamily="34" charset="-122"/>
                <a:cs typeface="IBM Plex Sans" pitchFamily="34" charset="-120"/>
              </a:rPr>
              <a:t>Fuzzing</a:t>
            </a:r>
            <a:endParaRPr lang="en-US" sz="1300" dirty="0"/>
          </a:p>
          <a:p>
            <a:pPr marL="168656" indent="-168656" algn="l">
              <a:lnSpc>
                <a:spcPts val="1820"/>
              </a:lnSpc>
              <a:buSzPct val="100000"/>
              <a:buChar char="•"/>
            </a:pPr>
            <a:r>
              <a:rPr lang="en-US" sz="1300" dirty="0">
                <a:solidFill>
                  <a:srgbClr val="44505C"/>
                </a:solidFill>
                <a:latin typeface="IBM Plex Sans" pitchFamily="34" charset="0"/>
                <a:ea typeface="IBM Plex Sans" pitchFamily="34" charset="-122"/>
                <a:cs typeface="IBM Plex Sans" pitchFamily="34" charset="-120"/>
              </a:rPr>
              <a:t>Abgleich mit BSI TR-02102</a:t>
            </a:r>
            <a:endParaRPr lang="en-US" sz="1300" dirty="0"/>
          </a:p>
          <a:p>
            <a:pPr marL="168656" indent="-168656" algn="l">
              <a:lnSpc>
                <a:spcPts val="1820"/>
              </a:lnSpc>
              <a:buSzPct val="100000"/>
              <a:buChar char="•"/>
            </a:pPr>
            <a:r>
              <a:rPr lang="en-US" sz="1300" dirty="0">
                <a:solidFill>
                  <a:srgbClr val="44505C"/>
                </a:solidFill>
                <a:latin typeface="IBM Plex Sans" pitchFamily="34" charset="0"/>
                <a:ea typeface="IBM Plex Sans" pitchFamily="34" charset="-122"/>
                <a:cs typeface="IBM Plex Sans" pitchFamily="34" charset="-120"/>
              </a:rPr>
              <a:t>QA</a:t>
            </a:r>
            <a:endParaRPr lang="en-US" sz="1300" dirty="0"/>
          </a:p>
        </p:txBody>
      </p:sp>
      <p:sp>
        <p:nvSpPr>
          <p:cNvPr id="12" name="Shape 8"/>
          <p:cNvSpPr/>
          <p:nvPr/>
        </p:nvSpPr>
        <p:spPr>
          <a:xfrm>
            <a:off x="7995692" y="1989386"/>
            <a:ext cx="3380333" cy="2452291"/>
          </a:xfrm>
          <a:prstGeom prst="roundRect">
            <a:avLst>
              <a:gd name="adj" fmla="val 4014"/>
            </a:avLst>
          </a:prstGeom>
          <a:solidFill>
            <a:srgbClr val="FCFBF8"/>
          </a:solidFill>
          <a:ln w="6350">
            <a:solidFill>
              <a:srgbClr val="E2E0D8"/>
            </a:solidFill>
            <a:prstDash val="solid"/>
          </a:ln>
        </p:spPr>
        <p:txBody>
          <a:bodyPr/>
          <a:lstStyle/>
          <a:p>
            <a:endParaRPr lang="en-DE"/>
          </a:p>
        </p:txBody>
      </p:sp>
      <p:pic>
        <p:nvPicPr>
          <p:cNvPr id="13" name="Image 2" descr="Activity"/>
          <p:cNvPicPr>
            <a:picLocks noChangeAspect="1"/>
          </p:cNvPicPr>
          <p:nvPr/>
        </p:nvPicPr>
        <p:blipFill>
          <a:blip r:embed="rId5"/>
          <a:srcRect/>
          <a:stretch/>
        </p:blipFill>
        <p:spPr>
          <a:xfrm>
            <a:off x="8252867" y="2246561"/>
            <a:ext cx="304800" cy="304800"/>
          </a:xfrm>
          <a:prstGeom prst="rect">
            <a:avLst/>
          </a:prstGeom>
        </p:spPr>
      </p:pic>
      <p:sp>
        <p:nvSpPr>
          <p:cNvPr id="14" name="Text 9"/>
          <p:cNvSpPr/>
          <p:nvPr/>
        </p:nvSpPr>
        <p:spPr>
          <a:xfrm>
            <a:off x="8252867" y="2652961"/>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02B"/>
                </a:solidFill>
                <a:latin typeface="Space Grotesk" pitchFamily="34" charset="0"/>
                <a:ea typeface="Space Grotesk" pitchFamily="34" charset="-122"/>
                <a:cs typeface="Space Grotesk" pitchFamily="34" charset="-120"/>
              </a:rPr>
              <a:t>Performance</a:t>
            </a:r>
            <a:endParaRPr lang="en-US" sz="1800" dirty="0"/>
          </a:p>
        </p:txBody>
      </p:sp>
      <p:sp>
        <p:nvSpPr>
          <p:cNvPr id="15" name="Text 10"/>
          <p:cNvSpPr/>
          <p:nvPr/>
        </p:nvSpPr>
        <p:spPr>
          <a:xfrm>
            <a:off x="8338211" y="3028851"/>
            <a:ext cx="2858999" cy="1181050"/>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44505C"/>
                </a:solidFill>
                <a:latin typeface="IBM Plex Sans" pitchFamily="34" charset="0"/>
                <a:ea typeface="IBM Plex Sans" pitchFamily="34" charset="-122"/>
                <a:cs typeface="IBM Plex Sans" pitchFamily="34" charset="-120"/>
              </a:rPr>
              <a:t>Benchmarks mit criterion</a:t>
            </a:r>
            <a:endParaRPr lang="en-US" sz="1300" dirty="0"/>
          </a:p>
          <a:p>
            <a:pPr marL="168656" indent="-168656" algn="l">
              <a:lnSpc>
                <a:spcPts val="1820"/>
              </a:lnSpc>
              <a:buSzPct val="100000"/>
              <a:buChar char="•"/>
            </a:pPr>
            <a:r>
              <a:rPr lang="en-US" sz="1300" dirty="0">
                <a:solidFill>
                  <a:srgbClr val="44505C"/>
                </a:solidFill>
                <a:latin typeface="IBM Plex Sans" pitchFamily="34" charset="0"/>
                <a:ea typeface="IBM Plex Sans" pitchFamily="34" charset="-122"/>
                <a:cs typeface="IBM Plex Sans" pitchFamily="34" charset="-120"/>
              </a:rPr>
              <a:t>RAM-Verbrauch bei großen Dateien</a:t>
            </a:r>
            <a:endParaRPr lang="en-US" sz="1300" dirty="0"/>
          </a:p>
          <a:p>
            <a:pPr marL="168656" indent="-168656" algn="l">
              <a:lnSpc>
                <a:spcPts val="1820"/>
              </a:lnSpc>
              <a:buSzPct val="100000"/>
              <a:buChar char="•"/>
            </a:pPr>
            <a:r>
              <a:rPr lang="en-US" sz="1300" dirty="0">
                <a:solidFill>
                  <a:srgbClr val="44505C"/>
                </a:solidFill>
                <a:latin typeface="IBM Plex Sans" pitchFamily="34" charset="0"/>
                <a:ea typeface="IBM Plex Sans" pitchFamily="34" charset="-122"/>
                <a:cs typeface="IBM Plex Sans" pitchFamily="34" charset="-120"/>
              </a:rPr>
              <a:t>Vergleich mit den Messwerten der Konkurrenz</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02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52983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5F4EF"/>
                </a:solidFill>
                <a:latin typeface="Space Grotesk" pitchFamily="34" charset="0"/>
                <a:ea typeface="Space Grotesk" pitchFamily="34" charset="-122"/>
                <a:cs typeface="Space Grotesk" pitchFamily="34" charset="-120"/>
              </a:rPr>
              <a:t>Vielen Dank!</a:t>
            </a:r>
            <a:endParaRPr lang="en-US" sz="6000" dirty="0"/>
          </a:p>
        </p:txBody>
      </p:sp>
      <p:sp>
        <p:nvSpPr>
          <p:cNvPr id="3" name="Text 1"/>
          <p:cNvSpPr/>
          <p:nvPr/>
        </p:nvSpPr>
        <p:spPr>
          <a:xfrm>
            <a:off x="812800" y="3533130"/>
            <a:ext cx="10883392" cy="3683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C9D6DE"/>
                </a:solidFill>
                <a:latin typeface="IBM Plex Sans" pitchFamily="34" charset="0"/>
                <a:ea typeface="IBM Plex Sans" pitchFamily="34" charset="-122"/>
                <a:cs typeface="IBM Plex Sans" pitchFamily="34" charset="-120"/>
              </a:rPr>
              <a:t>Wir freuen uns auf Fragen und Anregungen.</a:t>
            </a:r>
            <a:endParaRPr lang="en-US" sz="2000" dirty="0"/>
          </a:p>
        </p:txBody>
      </p:sp>
      <p:sp>
        <p:nvSpPr>
          <p:cNvPr id="4" name="Text 2"/>
          <p:cNvSpPr/>
          <p:nvPr/>
        </p:nvSpPr>
        <p:spPr>
          <a:xfrm>
            <a:off x="812800" y="407923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7FD6C8"/>
                </a:solidFill>
                <a:latin typeface="IBM Plex Sans" pitchFamily="34" charset="0"/>
                <a:ea typeface="IBM Plex Sans" pitchFamily="34" charset="-122"/>
                <a:cs typeface="IBM Plex Sans" pitchFamily="34" charset="-120"/>
              </a:rPr>
              <a:t>Aegis · Oliver Decker · Micha Wiedemann · Erik Spilner</a:t>
            </a:r>
            <a:endParaRPr lang="en-US" sz="1400" dirty="0"/>
          </a:p>
        </p:txBody>
      </p:sp>
      <p:pic>
        <p:nvPicPr>
          <p:cNvPr id="5" name="Image 0" descr="Lock"/>
          <p:cNvPicPr>
            <a:picLocks noChangeAspect="1"/>
          </p:cNvPicPr>
          <p:nvPr/>
        </p:nvPicPr>
        <p:blipFill>
          <a:blip r:embed="rId3"/>
          <a:srcRect/>
          <a:stretch/>
        </p:blipFill>
        <p:spPr>
          <a:xfrm>
            <a:off x="9398000" y="2413000"/>
            <a:ext cx="1905000" cy="1905000"/>
          </a:xfrm>
          <a:prstGeom prst="rect">
            <a:avLst/>
          </a:prstGeom>
        </p:spPr>
      </p:pic>
    </p:spTree>
  </p:cSld>
  <p:clrMapOvr>
    <a:masterClrMapping/>
  </p:clrMapOvr>
</p:sld>
</file>

<file path=ppt/theme/theme1.xml><?xml version="1.0" encoding="utf-8"?>
<a:theme xmlns:a="http://schemas.openxmlformats.org/drawingml/2006/main" name="Aegis Kickoff">
  <a:themeElements>
    <a:clrScheme name="Aegis Kickoff">
      <a:dk1>
        <a:srgbClr val="12202B"/>
      </a:dk1>
      <a:lt1>
        <a:srgbClr val="F5F4EF"/>
      </a:lt1>
      <a:dk2>
        <a:srgbClr val="4B555C"/>
      </a:dk2>
      <a:lt2>
        <a:srgbClr val="DEDFDB"/>
      </a:lt2>
      <a:accent1>
        <a:srgbClr val="1D7368"/>
      </a:accent1>
      <a:accent2>
        <a:srgbClr val="7FD6C8"/>
      </a:accent2>
      <a:accent3>
        <a:srgbClr val="44505C"/>
      </a:accent3>
      <a:accent4>
        <a:srgbClr val="C9D6DE"/>
      </a:accent4>
      <a:accent5>
        <a:srgbClr val="9AA0A6"/>
      </a:accent5>
      <a:accent6>
        <a:srgbClr val="6D7579"/>
      </a:accent6>
      <a:hlink>
        <a:srgbClr val="0563C1"/>
      </a:hlink>
      <a:folHlink>
        <a:srgbClr val="954F72"/>
      </a:folHlink>
    </a:clrScheme>
    <a:fontScheme name="Aegis Kickoff">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755</Words>
  <Application>Microsoft Office PowerPoint</Application>
  <PresentationFormat>Widescreen</PresentationFormat>
  <Paragraphs>102</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IBM Plex Sans</vt:lpstr>
      <vt:lpstr>Space Grotesk</vt:lpstr>
      <vt:lpstr>Aegis Kickoff</vt:lpstr>
      <vt:lpstr>Aegis</vt:lpstr>
      <vt:lpstr>Verschlüsselung scheitert an der Bedienung</vt:lpstr>
      <vt:lpstr>Umfassende Konkurrenzanalyse</vt:lpstr>
      <vt:lpstr>Modulare Architektur</vt:lpstr>
      <vt:lpstr>Nutzerzentriertes Vorgehen</vt:lpstr>
      <vt:lpstr>Sicherheit, die jeder bedienen kann</vt:lpstr>
      <vt:lpstr>Wie wir den Erfolg messen</vt:lpstr>
      <vt:lpstr>Vielen Dank!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Aegis Kickoff</dc:title>
  <dc:subject/>
  <dc:creator/>
  <cp:lastModifiedBy>Oliver Decker</cp:lastModifiedBy>
  <cp:revision>2</cp:revision>
  <dcterms:created xsi:type="dcterms:W3CDTF">2026-10-13T14:11:57Z</dcterms:created>
  <dcterms:modified xsi:type="dcterms:W3CDTF">2026-10-13T14:22:27Z</dcterms:modified>
</cp:coreProperties>
</file>